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5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2" r:id="rId6"/>
    <p:sldId id="258" r:id="rId7"/>
    <p:sldId id="264" r:id="rId8"/>
    <p:sldId id="265" r:id="rId9"/>
    <p:sldId id="266" r:id="rId10"/>
    <p:sldId id="267" r:id="rId11"/>
    <p:sldId id="269" r:id="rId12"/>
    <p:sldId id="270" r:id="rId13"/>
    <p:sldId id="268" r:id="rId14"/>
    <p:sldId id="25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120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stice%20Makete\Desktop\BRIGHT%20COFFEE%20SHOP\BRIGHT_COFFEE_CASE_STUDY%20(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stice%20Makete\Desktop\BRIGHT%20COFFEE%20SHOP\BRIGHT_COFFEE_CASE_STUDY%20(2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stice%20Makete\Desktop\BRIGHT%20COFFEE%20SHOP\BRIGHT_COFFEE_CASE_STUDY%20(2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stice%20Makete\Desktop\BRIGHT%20COFFEE%20SHOP\BRIGHT_COFFEE_CASE_STUDY%20(2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stice%20Makete\Desktop\BRIGHT%20COFFEE%20SHOP\BRIGHT_COFFEE_CASE_STUDY%20(2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stice%20Makete\Desktop\BRIGHT%20COFFEE%20SHOP\BRIGHT_COFFEE_CASE_STUDY%20(2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[BRIGHT_COFFEE_CASE_STUDY (2).xlsx]MONTHLY PERFORMANCE!PivotTable9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/>
              <a:t>MONTHLY REVENUE PERFORMANCE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'MONTHLY PERFORMANCE'!$B$1:$B$2</c:f>
              <c:strCache>
                <c:ptCount val="1"/>
                <c:pt idx="0">
                  <c:v>Astoria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'MONTHLY PERFORMANCE'!$A$3:$A$9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'MONTHLY PERFORMANCE'!$B$3:$B$9</c:f>
              <c:numCache>
                <c:formatCode>General</c:formatCode>
                <c:ptCount val="6"/>
                <c:pt idx="0">
                  <c:v>27313.660000000029</c:v>
                </c:pt>
                <c:pt idx="1">
                  <c:v>25105.34000000004</c:v>
                </c:pt>
                <c:pt idx="2">
                  <c:v>32835.430000000037</c:v>
                </c:pt>
                <c:pt idx="3">
                  <c:v>39477.610000000037</c:v>
                </c:pt>
                <c:pt idx="4">
                  <c:v>52428.760000000017</c:v>
                </c:pt>
                <c:pt idx="5">
                  <c:v>55083.110000000037</c:v>
                </c:pt>
              </c:numCache>
            </c:numRef>
          </c:val>
        </c:ser>
        <c:ser>
          <c:idx val="1"/>
          <c:order val="1"/>
          <c:tx>
            <c:strRef>
              <c:f>'MONTHLY PERFORMANCE'!$C$1:$C$2</c:f>
              <c:strCache>
                <c:ptCount val="1"/>
                <c:pt idx="0">
                  <c:v>Hell's Kitchen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'MONTHLY PERFORMANCE'!$A$3:$A$9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'MONTHLY PERFORMANCE'!$C$3:$C$9</c:f>
              <c:numCache>
                <c:formatCode>General</c:formatCode>
                <c:ptCount val="6"/>
                <c:pt idx="0">
                  <c:v>27820.650000000038</c:v>
                </c:pt>
                <c:pt idx="1">
                  <c:v>25719.800000000021</c:v>
                </c:pt>
                <c:pt idx="2">
                  <c:v>33110.570000000007</c:v>
                </c:pt>
                <c:pt idx="3">
                  <c:v>40304.140000000021</c:v>
                </c:pt>
                <c:pt idx="4">
                  <c:v>52598.929999999978</c:v>
                </c:pt>
                <c:pt idx="5">
                  <c:v>56957.079999999936</c:v>
                </c:pt>
              </c:numCache>
            </c:numRef>
          </c:val>
        </c:ser>
        <c:ser>
          <c:idx val="2"/>
          <c:order val="2"/>
          <c:tx>
            <c:strRef>
              <c:f>'MONTHLY PERFORMANCE'!$D$1:$D$2</c:f>
              <c:strCache>
                <c:ptCount val="1"/>
                <c:pt idx="0">
                  <c:v>Lower Manhattan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'MONTHLY PERFORMANCE'!$A$3:$A$9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'MONTHLY PERFORMANCE'!$D$3:$D$9</c:f>
              <c:numCache>
                <c:formatCode>General</c:formatCode>
                <c:ptCount val="6"/>
                <c:pt idx="0">
                  <c:v>26543.430000000015</c:v>
                </c:pt>
                <c:pt idx="1">
                  <c:v>25320.050000000017</c:v>
                </c:pt>
                <c:pt idx="2">
                  <c:v>32888.68</c:v>
                </c:pt>
                <c:pt idx="3">
                  <c:v>39159.330000000009</c:v>
                </c:pt>
                <c:pt idx="4">
                  <c:v>51700.069999999949</c:v>
                </c:pt>
                <c:pt idx="5">
                  <c:v>54445.689999999951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553006672"/>
        <c:axId val="553007760"/>
      </c:barChart>
      <c:catAx>
        <c:axId val="553006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3007760"/>
        <c:crosses val="autoZero"/>
        <c:auto val="1"/>
        <c:lblAlgn val="ctr"/>
        <c:lblOffset val="100"/>
        <c:noMultiLvlLbl val="0"/>
      </c:catAx>
      <c:valAx>
        <c:axId val="55300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300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[BRIGHT_COFFEE_CASE_STUDY (2).xlsx]UNITS SOLD PERFORMANCE!PivotTable10</c:name>
    <c:fmtId val="4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/>
              <a:t>STORE PERFORMANCE: UNITS SOLD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'UNITS SOLD PERFORMANCE'!$B$1:$B$3</c:f>
              <c:strCache>
                <c:ptCount val="1"/>
                <c:pt idx="0">
                  <c:v>Astoria - Sum of units_sold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'UNITS SOLD PERFORMANCE'!$A$4:$A$13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'UNITS SOLD PERFORMANCE'!$B$4:$B$13</c:f>
              <c:numCache>
                <c:formatCode>General</c:formatCode>
                <c:ptCount val="9"/>
                <c:pt idx="0">
                  <c:v>7496</c:v>
                </c:pt>
                <c:pt idx="1">
                  <c:v>279</c:v>
                </c:pt>
                <c:pt idx="2">
                  <c:v>29655</c:v>
                </c:pt>
                <c:pt idx="3">
                  <c:v>502</c:v>
                </c:pt>
                <c:pt idx="4">
                  <c:v>6351</c:v>
                </c:pt>
                <c:pt idx="5">
                  <c:v>2206</c:v>
                </c:pt>
                <c:pt idx="6">
                  <c:v>344</c:v>
                </c:pt>
                <c:pt idx="7">
                  <c:v>110</c:v>
                </c:pt>
                <c:pt idx="8">
                  <c:v>24048</c:v>
                </c:pt>
              </c:numCache>
            </c:numRef>
          </c:val>
        </c:ser>
        <c:ser>
          <c:idx val="1"/>
          <c:order val="1"/>
          <c:tx>
            <c:strRef>
              <c:f>'UNITS SOLD PERFORMANCE'!$C$1:$C$3</c:f>
              <c:strCache>
                <c:ptCount val="1"/>
                <c:pt idx="0">
                  <c:v>Astoria - Sum of revenue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'UNITS SOLD PERFORMANCE'!$A$4:$A$13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'UNITS SOLD PERFORMANCE'!$C$4:$C$13</c:f>
              <c:numCache>
                <c:formatCode>General</c:formatCode>
                <c:ptCount val="9"/>
                <c:pt idx="0">
                  <c:v>26599.75</c:v>
                </c:pt>
                <c:pt idx="1">
                  <c:v>5457</c:v>
                </c:pt>
                <c:pt idx="2">
                  <c:v>89744.300000000061</c:v>
                </c:pt>
                <c:pt idx="3">
                  <c:v>10219.199999999999</c:v>
                </c:pt>
                <c:pt idx="4">
                  <c:v>26335.25</c:v>
                </c:pt>
                <c:pt idx="5">
                  <c:v>1764.8000000000009</c:v>
                </c:pt>
                <c:pt idx="6">
                  <c:v>3193.9999999999964</c:v>
                </c:pt>
                <c:pt idx="7">
                  <c:v>1089.7100000000003</c:v>
                </c:pt>
                <c:pt idx="8">
                  <c:v>67839.899999999994</c:v>
                </c:pt>
              </c:numCache>
            </c:numRef>
          </c:val>
        </c:ser>
        <c:ser>
          <c:idx val="2"/>
          <c:order val="2"/>
          <c:tx>
            <c:strRef>
              <c:f>'UNITS SOLD PERFORMANCE'!$D$1:$D$3</c:f>
              <c:strCache>
                <c:ptCount val="1"/>
                <c:pt idx="0">
                  <c:v>Hell's Kitchen - Sum of units_sold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'UNITS SOLD PERFORMANCE'!$A$4:$A$13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'UNITS SOLD PERFORMANCE'!$D$4:$D$13</c:f>
              <c:numCache>
                <c:formatCode>General</c:formatCode>
                <c:ptCount val="9"/>
                <c:pt idx="0">
                  <c:v>7678</c:v>
                </c:pt>
                <c:pt idx="1">
                  <c:v>119</c:v>
                </c:pt>
                <c:pt idx="2">
                  <c:v>30220</c:v>
                </c:pt>
                <c:pt idx="3">
                  <c:v>790</c:v>
                </c:pt>
                <c:pt idx="4">
                  <c:v>5672</c:v>
                </c:pt>
                <c:pt idx="5">
                  <c:v>3596</c:v>
                </c:pt>
                <c:pt idx="6">
                  <c:v>485</c:v>
                </c:pt>
                <c:pt idx="7">
                  <c:v>197</c:v>
                </c:pt>
                <c:pt idx="8">
                  <c:v>22980</c:v>
                </c:pt>
              </c:numCache>
            </c:numRef>
          </c:val>
        </c:ser>
        <c:ser>
          <c:idx val="3"/>
          <c:order val="3"/>
          <c:tx>
            <c:strRef>
              <c:f>'UNITS SOLD PERFORMANCE'!$E$1:$E$3</c:f>
              <c:strCache>
                <c:ptCount val="1"/>
                <c:pt idx="0">
                  <c:v>Hell's Kitchen - Sum of revenue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'UNITS SOLD PERFORMANCE'!$A$4:$A$13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'UNITS SOLD PERFORMANCE'!$E$4:$E$13</c:f>
              <c:numCache>
                <c:formatCode>General</c:formatCode>
                <c:ptCount val="9"/>
                <c:pt idx="0">
                  <c:v>27386.95</c:v>
                </c:pt>
                <c:pt idx="1">
                  <c:v>1942</c:v>
                </c:pt>
                <c:pt idx="2">
                  <c:v>91222.650000000038</c:v>
                </c:pt>
                <c:pt idx="3">
                  <c:v>18635.100000000006</c:v>
                </c:pt>
                <c:pt idx="4">
                  <c:v>23586.25</c:v>
                </c:pt>
                <c:pt idx="5">
                  <c:v>2876.7999999999988</c:v>
                </c:pt>
                <c:pt idx="6">
                  <c:v>4461.3499999999867</c:v>
                </c:pt>
                <c:pt idx="7">
                  <c:v>1698.77</c:v>
                </c:pt>
                <c:pt idx="8">
                  <c:v>64701.300000000025</c:v>
                </c:pt>
              </c:numCache>
            </c:numRef>
          </c:val>
        </c:ser>
        <c:ser>
          <c:idx val="4"/>
          <c:order val="4"/>
          <c:tx>
            <c:strRef>
              <c:f>'UNITS SOLD PERFORMANCE'!$F$1:$F$3</c:f>
              <c:strCache>
                <c:ptCount val="1"/>
                <c:pt idx="0">
                  <c:v>Lower Manhattan - Sum of units_sold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'UNITS SOLD PERFORMANCE'!$A$4:$A$13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'UNITS SOLD PERFORMANCE'!$F$4:$F$13</c:f>
              <c:numCache>
                <c:formatCode>General</c:formatCode>
                <c:ptCount val="9"/>
                <c:pt idx="0">
                  <c:v>8040</c:v>
                </c:pt>
                <c:pt idx="1">
                  <c:v>378</c:v>
                </c:pt>
                <c:pt idx="2">
                  <c:v>29375</c:v>
                </c:pt>
                <c:pt idx="3">
                  <c:v>536</c:v>
                </c:pt>
                <c:pt idx="4">
                  <c:v>5434</c:v>
                </c:pt>
                <c:pt idx="5">
                  <c:v>4709</c:v>
                </c:pt>
                <c:pt idx="6">
                  <c:v>381</c:v>
                </c:pt>
                <c:pt idx="7">
                  <c:v>180</c:v>
                </c:pt>
                <c:pt idx="8">
                  <c:v>22709</c:v>
                </c:pt>
              </c:numCache>
            </c:numRef>
          </c:val>
        </c:ser>
        <c:ser>
          <c:idx val="5"/>
          <c:order val="5"/>
          <c:tx>
            <c:strRef>
              <c:f>'UNITS SOLD PERFORMANCE'!$G$1:$G$3</c:f>
              <c:strCache>
                <c:ptCount val="1"/>
                <c:pt idx="0">
                  <c:v>Lower Manhattan - Sum of revenue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'UNITS SOLD PERFORMANCE'!$A$4:$A$13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'UNITS SOLD PERFORMANCE'!$G$4:$G$13</c:f>
              <c:numCache>
                <c:formatCode>General</c:formatCode>
                <c:ptCount val="9"/>
                <c:pt idx="0">
                  <c:v>28328.939999999991</c:v>
                </c:pt>
                <c:pt idx="1">
                  <c:v>6208</c:v>
                </c:pt>
                <c:pt idx="2">
                  <c:v>88985.500000000131</c:v>
                </c:pt>
                <c:pt idx="3">
                  <c:v>11230.95</c:v>
                </c:pt>
                <c:pt idx="4">
                  <c:v>22494.5</c:v>
                </c:pt>
                <c:pt idx="5">
                  <c:v>3767.1999999999971</c:v>
                </c:pt>
                <c:pt idx="6">
                  <c:v>3558.2499999999945</c:v>
                </c:pt>
                <c:pt idx="7">
                  <c:v>1619.1599999999999</c:v>
                </c:pt>
                <c:pt idx="8">
                  <c:v>63864.749999999935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546637696"/>
        <c:axId val="546640960"/>
      </c:barChart>
      <c:catAx>
        <c:axId val="54663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6640960"/>
        <c:crosses val="autoZero"/>
        <c:auto val="1"/>
        <c:lblAlgn val="ctr"/>
        <c:lblOffset val="100"/>
        <c:noMultiLvlLbl val="0"/>
      </c:catAx>
      <c:valAx>
        <c:axId val="5466409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663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[BRIGHT_COFFEE_CASE_STUDY (2).xlsx]PROD CATEGORY PERFORMANCE!PivotTable11</c:name>
    <c:fmtId val="4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/>
              <a:t>PRODUCT CATEGORY PERFORMANCE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'PROD CATEGORY PERFORMANCE'!$B$1:$B$2</c:f>
              <c:strCache>
                <c:ptCount val="1"/>
                <c:pt idx="0">
                  <c:v>Astoria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CATEGORY PERFORMANCE'!$A$3:$A$12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'PROD CATEGORY PERFORMANCE'!$B$3:$B$12</c:f>
              <c:numCache>
                <c:formatCode>General</c:formatCode>
                <c:ptCount val="9"/>
                <c:pt idx="0">
                  <c:v>26599.75</c:v>
                </c:pt>
                <c:pt idx="1">
                  <c:v>5457</c:v>
                </c:pt>
                <c:pt idx="2">
                  <c:v>89744.300000000061</c:v>
                </c:pt>
                <c:pt idx="3">
                  <c:v>10219.199999999999</c:v>
                </c:pt>
                <c:pt idx="4">
                  <c:v>26335.25</c:v>
                </c:pt>
                <c:pt idx="5">
                  <c:v>1764.8000000000009</c:v>
                </c:pt>
                <c:pt idx="6">
                  <c:v>3193.9999999999964</c:v>
                </c:pt>
                <c:pt idx="7">
                  <c:v>1089.7100000000003</c:v>
                </c:pt>
                <c:pt idx="8">
                  <c:v>67839.899999999994</c:v>
                </c:pt>
              </c:numCache>
            </c:numRef>
          </c:val>
        </c:ser>
        <c:ser>
          <c:idx val="1"/>
          <c:order val="1"/>
          <c:tx>
            <c:strRef>
              <c:f>'PROD CATEGORY PERFORMANCE'!$C$1:$C$2</c:f>
              <c:strCache>
                <c:ptCount val="1"/>
                <c:pt idx="0">
                  <c:v>Hell's Kitchen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CATEGORY PERFORMANCE'!$A$3:$A$12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'PROD CATEGORY PERFORMANCE'!$C$3:$C$12</c:f>
              <c:numCache>
                <c:formatCode>General</c:formatCode>
                <c:ptCount val="9"/>
                <c:pt idx="0">
                  <c:v>27386.95</c:v>
                </c:pt>
                <c:pt idx="1">
                  <c:v>1942</c:v>
                </c:pt>
                <c:pt idx="2">
                  <c:v>91222.650000000038</c:v>
                </c:pt>
                <c:pt idx="3">
                  <c:v>18635.100000000006</c:v>
                </c:pt>
                <c:pt idx="4">
                  <c:v>23586.25</c:v>
                </c:pt>
                <c:pt idx="5">
                  <c:v>2876.7999999999988</c:v>
                </c:pt>
                <c:pt idx="6">
                  <c:v>4461.3499999999867</c:v>
                </c:pt>
                <c:pt idx="7">
                  <c:v>1698.77</c:v>
                </c:pt>
                <c:pt idx="8">
                  <c:v>64701.300000000025</c:v>
                </c:pt>
              </c:numCache>
            </c:numRef>
          </c:val>
        </c:ser>
        <c:ser>
          <c:idx val="2"/>
          <c:order val="2"/>
          <c:tx>
            <c:strRef>
              <c:f>'PROD CATEGORY PERFORMANCE'!$D$1:$D$2</c:f>
              <c:strCache>
                <c:ptCount val="1"/>
                <c:pt idx="0">
                  <c:v>Lower Manhattan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CATEGORY PERFORMANCE'!$A$3:$A$12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'PROD CATEGORY PERFORMANCE'!$D$3:$D$12</c:f>
              <c:numCache>
                <c:formatCode>General</c:formatCode>
                <c:ptCount val="9"/>
                <c:pt idx="0">
                  <c:v>28328.939999999991</c:v>
                </c:pt>
                <c:pt idx="1">
                  <c:v>6208</c:v>
                </c:pt>
                <c:pt idx="2">
                  <c:v>88985.500000000131</c:v>
                </c:pt>
                <c:pt idx="3">
                  <c:v>11230.95</c:v>
                </c:pt>
                <c:pt idx="4">
                  <c:v>22494.5</c:v>
                </c:pt>
                <c:pt idx="5">
                  <c:v>3767.1999999999971</c:v>
                </c:pt>
                <c:pt idx="6">
                  <c:v>3558.2499999999945</c:v>
                </c:pt>
                <c:pt idx="7">
                  <c:v>1619.1599999999999</c:v>
                </c:pt>
                <c:pt idx="8">
                  <c:v>63864.749999999935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487183104"/>
        <c:axId val="487183648"/>
      </c:barChart>
      <c:catAx>
        <c:axId val="4871831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183648"/>
        <c:crosses val="autoZero"/>
        <c:auto val="1"/>
        <c:lblAlgn val="ctr"/>
        <c:lblOffset val="100"/>
        <c:noMultiLvlLbl val="0"/>
      </c:catAx>
      <c:valAx>
        <c:axId val="487183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183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[BRIGHT_COFFEE_CASE_STUDY (2).xlsx]PROD TYPE PERFORMANCE !PivotTable12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/>
              <a:t>PRODUCT TYPE PERFORMANCE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'PROD TYPE PERFORMANCE '!$B$3:$B$4</c:f>
              <c:strCache>
                <c:ptCount val="1"/>
                <c:pt idx="0">
                  <c:v>Bakery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TYPE PERFORMANCE '!$A$5:$A$34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 TYPE PERFORMANCE '!$B$5:$B$34</c:f>
              <c:numCache>
                <c:formatCode>General</c:formatCode>
                <c:ptCount val="29"/>
                <c:pt idx="1">
                  <c:v>19793.530000000002</c:v>
                </c:pt>
                <c:pt idx="23">
                  <c:v>25655.989999999998</c:v>
                </c:pt>
                <c:pt idx="27">
                  <c:v>36866.119999999988</c:v>
                </c:pt>
              </c:numCache>
            </c:numRef>
          </c:val>
        </c:ser>
        <c:ser>
          <c:idx val="1"/>
          <c:order val="1"/>
          <c:tx>
            <c:strRef>
              <c:f>'PROD TYPE PERFORMANCE '!$C$3:$C$4</c:f>
              <c:strCache>
                <c:ptCount val="1"/>
                <c:pt idx="0">
                  <c:v>Branded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TYPE PERFORMANCE '!$A$5:$A$34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 TYPE PERFORMANCE '!$C$5:$C$34</c:f>
              <c:numCache>
                <c:formatCode>General</c:formatCode>
                <c:ptCount val="29"/>
                <c:pt idx="8">
                  <c:v>6163</c:v>
                </c:pt>
                <c:pt idx="19">
                  <c:v>7444</c:v>
                </c:pt>
              </c:numCache>
            </c:numRef>
          </c:val>
        </c:ser>
        <c:ser>
          <c:idx val="2"/>
          <c:order val="2"/>
          <c:tx>
            <c:strRef>
              <c:f>'PROD TYPE PERFORMANCE '!$D$3:$D$4</c:f>
              <c:strCache>
                <c:ptCount val="1"/>
                <c:pt idx="0">
                  <c:v>Coffee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TYPE PERFORMANCE '!$A$5:$A$34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 TYPE PERFORMANCE '!$D$5:$D$34</c:f>
              <c:numCache>
                <c:formatCode>General</c:formatCode>
                <c:ptCount val="29"/>
                <c:pt idx="0">
                  <c:v>91406.200000000012</c:v>
                </c:pt>
                <c:pt idx="10">
                  <c:v>31984</c:v>
                </c:pt>
                <c:pt idx="13">
                  <c:v>70034.600000000035</c:v>
                </c:pt>
                <c:pt idx="21">
                  <c:v>37746.499999999985</c:v>
                </c:pt>
                <c:pt idx="25">
                  <c:v>38781.14999999998</c:v>
                </c:pt>
              </c:numCache>
            </c:numRef>
          </c:val>
        </c:ser>
        <c:ser>
          <c:idx val="3"/>
          <c:order val="3"/>
          <c:tx>
            <c:strRef>
              <c:f>'PROD TYPE PERFORMANCE '!$E$3:$E$4</c:f>
              <c:strCache>
                <c:ptCount val="1"/>
                <c:pt idx="0">
                  <c:v>Coffee beans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TYPE PERFORMANCE '!$A$5:$A$34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 TYPE PERFORMANCE '!$E$5:$E$34</c:f>
              <c:numCache>
                <c:formatCode>General</c:formatCode>
                <c:ptCount val="29"/>
                <c:pt idx="11">
                  <c:v>5560.24999999999</c:v>
                </c:pt>
                <c:pt idx="12">
                  <c:v>6798</c:v>
                </c:pt>
                <c:pt idx="14">
                  <c:v>1340</c:v>
                </c:pt>
                <c:pt idx="18">
                  <c:v>3294</c:v>
                </c:pt>
                <c:pt idx="20">
                  <c:v>8509.5</c:v>
                </c:pt>
                <c:pt idx="24">
                  <c:v>14583.5</c:v>
                </c:pt>
              </c:numCache>
            </c:numRef>
          </c:val>
        </c:ser>
        <c:ser>
          <c:idx val="4"/>
          <c:order val="4"/>
          <c:tx>
            <c:strRef>
              <c:f>'PROD TYPE PERFORMANCE '!$F$3:$F$4</c:f>
              <c:strCache>
                <c:ptCount val="1"/>
                <c:pt idx="0">
                  <c:v>Drinking Chocolate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TYPE PERFORMANCE '!$A$5:$A$34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 TYPE PERFORMANCE '!$F$5:$F$34</c:f>
              <c:numCache>
                <c:formatCode>General</c:formatCode>
                <c:ptCount val="29"/>
                <c:pt idx="17">
                  <c:v>72416</c:v>
                </c:pt>
              </c:numCache>
            </c:numRef>
          </c:val>
        </c:ser>
        <c:ser>
          <c:idx val="5"/>
          <c:order val="5"/>
          <c:tx>
            <c:strRef>
              <c:f>'PROD TYPE PERFORMANCE '!$G$3:$G$4</c:f>
              <c:strCache>
                <c:ptCount val="1"/>
                <c:pt idx="0">
                  <c:v>Flavours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TYPE PERFORMANCE '!$A$5:$A$34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 TYPE PERFORMANCE '!$G$5:$G$34</c:f>
              <c:numCache>
                <c:formatCode>General</c:formatCode>
                <c:ptCount val="29"/>
                <c:pt idx="26">
                  <c:v>6084.8000000000029</c:v>
                </c:pt>
                <c:pt idx="28">
                  <c:v>2323.9999999999995</c:v>
                </c:pt>
              </c:numCache>
            </c:numRef>
          </c:val>
        </c:ser>
        <c:ser>
          <c:idx val="6"/>
          <c:order val="6"/>
          <c:tx>
            <c:strRef>
              <c:f>'PROD TYPE PERFORMANCE '!$H$3:$H$4</c:f>
              <c:strCache>
                <c:ptCount val="1"/>
                <c:pt idx="0">
                  <c:v>Loose Tea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TYPE PERFORMANCE '!$A$5:$A$34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 TYPE PERFORMANCE '!$H$5:$H$34</c:f>
              <c:numCache>
                <c:formatCode>General</c:formatCode>
                <c:ptCount val="29"/>
                <c:pt idx="2">
                  <c:v>2711.8499999999995</c:v>
                </c:pt>
                <c:pt idx="7">
                  <c:v>4301.24999999999</c:v>
                </c:pt>
                <c:pt idx="15">
                  <c:v>1470.75</c:v>
                </c:pt>
                <c:pt idx="16">
                  <c:v>2729.7499999999977</c:v>
                </c:pt>
              </c:numCache>
            </c:numRef>
          </c:val>
        </c:ser>
        <c:ser>
          <c:idx val="7"/>
          <c:order val="7"/>
          <c:tx>
            <c:strRef>
              <c:f>'PROD TYPE PERFORMANCE '!$I$3:$I$4</c:f>
              <c:strCache>
                <c:ptCount val="1"/>
                <c:pt idx="0">
                  <c:v>Packaged Chocolate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TYPE PERFORMANCE '!$A$5:$A$34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 TYPE PERFORMANCE '!$I$5:$I$34</c:f>
              <c:numCache>
                <c:formatCode>General</c:formatCode>
                <c:ptCount val="29"/>
                <c:pt idx="9">
                  <c:v>2728.0400000000004</c:v>
                </c:pt>
                <c:pt idx="22">
                  <c:v>1679.5999999999981</c:v>
                </c:pt>
              </c:numCache>
            </c:numRef>
          </c:val>
        </c:ser>
        <c:ser>
          <c:idx val="8"/>
          <c:order val="8"/>
          <c:tx>
            <c:strRef>
              <c:f>'PROD TYPE PERFORMANCE '!$J$3:$J$4</c:f>
              <c:strCache>
                <c:ptCount val="1"/>
                <c:pt idx="0">
                  <c:v>Tea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'PROD TYPE PERFORMANCE '!$A$5:$A$34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'PROD TYPE PERFORMANCE '!$J$5:$J$34</c:f>
              <c:numCache>
                <c:formatCode>General</c:formatCode>
                <c:ptCount val="29"/>
                <c:pt idx="3">
                  <c:v>47932</c:v>
                </c:pt>
                <c:pt idx="4">
                  <c:v>77081.95</c:v>
                </c:pt>
                <c:pt idx="5">
                  <c:v>23852.5</c:v>
                </c:pt>
                <c:pt idx="6">
                  <c:v>47539.5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23769968"/>
        <c:axId val="623766704"/>
      </c:barChart>
      <c:catAx>
        <c:axId val="623769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3766704"/>
        <c:crosses val="autoZero"/>
        <c:auto val="1"/>
        <c:lblAlgn val="ctr"/>
        <c:lblOffset val="100"/>
        <c:noMultiLvlLbl val="0"/>
      </c:catAx>
      <c:valAx>
        <c:axId val="623766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3769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[BRIGHT_COFFEE_CASE_STUDY (2).xlsx]TOP PRODUCT PERFORMANCE!PivotTable13</c:name>
    <c:fmtId val="4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/>
              <a:t>TOP PRODUCT PERFORMANCE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'TOP PRODUCT PERFORMANCE'!$B$1:$B$2</c:f>
              <c:strCache>
                <c:ptCount val="1"/>
                <c:pt idx="0">
                  <c:v>Bakery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'TOP PRODUCT PERFORMANCE'!$A$3:$A$83</c:f>
              <c:strCache>
                <c:ptCount val="80"/>
                <c:pt idx="0">
                  <c:v>Almond Croissant</c:v>
                </c:pt>
                <c:pt idx="1">
                  <c:v>Brazilian - Organic</c:v>
                </c:pt>
                <c:pt idx="2">
                  <c:v>Brazilian Lg</c:v>
                </c:pt>
                <c:pt idx="3">
                  <c:v>Brazilian Rg</c:v>
                </c:pt>
                <c:pt idx="4">
                  <c:v>Brazilian Sm</c:v>
                </c:pt>
                <c:pt idx="5">
                  <c:v>Cappuccino</c:v>
                </c:pt>
                <c:pt idx="6">
                  <c:v>Cappuccino Lg</c:v>
                </c:pt>
                <c:pt idx="7">
                  <c:v>Carmel syrup</c:v>
                </c:pt>
                <c:pt idx="8">
                  <c:v>Chili Mayan</c:v>
                </c:pt>
                <c:pt idx="9">
                  <c:v>Chocolate Chip Biscotti</c:v>
                </c:pt>
                <c:pt idx="10">
                  <c:v>Chocolate Croissant</c:v>
                </c:pt>
                <c:pt idx="11">
                  <c:v>Chocolate syrup</c:v>
                </c:pt>
                <c:pt idx="12">
                  <c:v>Civet Cat</c:v>
                </c:pt>
                <c:pt idx="13">
                  <c:v>Columbian Medium Roast</c:v>
                </c:pt>
                <c:pt idx="14">
                  <c:v>Columbian Medium Roast Lg</c:v>
                </c:pt>
                <c:pt idx="15">
                  <c:v>Columbian Medium Roast Rg</c:v>
                </c:pt>
                <c:pt idx="16">
                  <c:v>Columbian Medium Roast Sm</c:v>
                </c:pt>
                <c:pt idx="17">
                  <c:v>Cranberry Scone</c:v>
                </c:pt>
                <c:pt idx="18">
                  <c:v>Croissant</c:v>
                </c:pt>
                <c:pt idx="19">
                  <c:v>Dark chocolate</c:v>
                </c:pt>
                <c:pt idx="20">
                  <c:v>Dark chocolate Lg</c:v>
                </c:pt>
                <c:pt idx="21">
                  <c:v>Dark chocolate Rg</c:v>
                </c:pt>
                <c:pt idx="22">
                  <c:v>Earl Grey</c:v>
                </c:pt>
                <c:pt idx="23">
                  <c:v>Earl Grey Lg</c:v>
                </c:pt>
                <c:pt idx="24">
                  <c:v>Earl Grey Rg</c:v>
                </c:pt>
                <c:pt idx="25">
                  <c:v>English Breakfast</c:v>
                </c:pt>
                <c:pt idx="26">
                  <c:v>English Breakfast Lg</c:v>
                </c:pt>
                <c:pt idx="27">
                  <c:v>English Breakfast Rg</c:v>
                </c:pt>
                <c:pt idx="28">
                  <c:v>Espresso Roast</c:v>
                </c:pt>
                <c:pt idx="29">
                  <c:v>Espresso shot</c:v>
                </c:pt>
                <c:pt idx="30">
                  <c:v>Ethiopia</c:v>
                </c:pt>
                <c:pt idx="31">
                  <c:v>Ethiopia Lg</c:v>
                </c:pt>
                <c:pt idx="32">
                  <c:v>Ethiopia Rg</c:v>
                </c:pt>
                <c:pt idx="33">
                  <c:v>Ethiopia Sm</c:v>
                </c:pt>
                <c:pt idx="34">
                  <c:v>Ginger Biscotti</c:v>
                </c:pt>
                <c:pt idx="35">
                  <c:v>Ginger Scone</c:v>
                </c:pt>
                <c:pt idx="36">
                  <c:v>Guatemalan Sustainably Grown</c:v>
                </c:pt>
                <c:pt idx="37">
                  <c:v>Hazelnut Biscotti</c:v>
                </c:pt>
                <c:pt idx="38">
                  <c:v>Hazelnut syrup</c:v>
                </c:pt>
                <c:pt idx="39">
                  <c:v>I Need My Bean! Diner mug</c:v>
                </c:pt>
                <c:pt idx="40">
                  <c:v>I Need My Bean! Latte cup</c:v>
                </c:pt>
                <c:pt idx="41">
                  <c:v>I Need My Bean! T-shirt</c:v>
                </c:pt>
                <c:pt idx="42">
                  <c:v>Jamacian Coffee River</c:v>
                </c:pt>
                <c:pt idx="43">
                  <c:v>Jamaican Coffee River Lg</c:v>
                </c:pt>
                <c:pt idx="44">
                  <c:v>Jamaican Coffee River Rg</c:v>
                </c:pt>
                <c:pt idx="45">
                  <c:v>Jamaican Coffee River Sm</c:v>
                </c:pt>
                <c:pt idx="46">
                  <c:v>Jumbo Savory Scone</c:v>
                </c:pt>
                <c:pt idx="47">
                  <c:v>Latte</c:v>
                </c:pt>
                <c:pt idx="48">
                  <c:v>Latte Rg</c:v>
                </c:pt>
                <c:pt idx="49">
                  <c:v>Lemon Grass</c:v>
                </c:pt>
                <c:pt idx="50">
                  <c:v>Lemon Grass Lg</c:v>
                </c:pt>
                <c:pt idx="51">
                  <c:v>Lemon Grass Rg</c:v>
                </c:pt>
                <c:pt idx="52">
                  <c:v>Morning Sunrise Chai</c:v>
                </c:pt>
                <c:pt idx="53">
                  <c:v>Morning Sunrise Chai Lg</c:v>
                </c:pt>
                <c:pt idx="54">
                  <c:v>Morning Sunrise Chai Rg</c:v>
                </c:pt>
                <c:pt idx="55">
                  <c:v>Oatmeal Scone</c:v>
                </c:pt>
                <c:pt idx="56">
                  <c:v>Organic Decaf Blend</c:v>
                </c:pt>
                <c:pt idx="57">
                  <c:v>Our Old Time Diner Blend</c:v>
                </c:pt>
                <c:pt idx="58">
                  <c:v>Our Old Time Diner Blend Lg</c:v>
                </c:pt>
                <c:pt idx="59">
                  <c:v>Our Old Time Diner Blend Rg</c:v>
                </c:pt>
                <c:pt idx="60">
                  <c:v>Our Old Time Diner Blend Sm</c:v>
                </c:pt>
                <c:pt idx="61">
                  <c:v>Ouro Brasileiro shot</c:v>
                </c:pt>
                <c:pt idx="62">
                  <c:v>Peppermint</c:v>
                </c:pt>
                <c:pt idx="63">
                  <c:v>Peppermint Lg</c:v>
                </c:pt>
                <c:pt idx="64">
                  <c:v>Peppermint Rg</c:v>
                </c:pt>
                <c:pt idx="65">
                  <c:v>Primo Espresso Roast</c:v>
                </c:pt>
                <c:pt idx="66">
                  <c:v>Scottish Cream Scone</c:v>
                </c:pt>
                <c:pt idx="67">
                  <c:v>Serenity Green Tea</c:v>
                </c:pt>
                <c:pt idx="68">
                  <c:v>Serenity Green Tea Lg</c:v>
                </c:pt>
                <c:pt idx="69">
                  <c:v>Serenity Green Tea Rg</c:v>
                </c:pt>
                <c:pt idx="70">
                  <c:v>Spicy Eye Opener Chai</c:v>
                </c:pt>
                <c:pt idx="71">
                  <c:v>Spicy Eye Opener Chai Lg</c:v>
                </c:pt>
                <c:pt idx="72">
                  <c:v>Spicy Eye Opener Chai Rg</c:v>
                </c:pt>
                <c:pt idx="73">
                  <c:v>Sugar Free Vanilla syrup</c:v>
                </c:pt>
                <c:pt idx="74">
                  <c:v>Sustainably Grown Organic</c:v>
                </c:pt>
                <c:pt idx="75">
                  <c:v>Sustainably Grown Organic Lg</c:v>
                </c:pt>
                <c:pt idx="76">
                  <c:v>Sustainably Grown Organic Rg</c:v>
                </c:pt>
                <c:pt idx="77">
                  <c:v>Traditional Blend Chai</c:v>
                </c:pt>
                <c:pt idx="78">
                  <c:v>Traditional Blend Chai Lg</c:v>
                </c:pt>
                <c:pt idx="79">
                  <c:v>Traditional Blend Chai Rg</c:v>
                </c:pt>
              </c:strCache>
            </c:strRef>
          </c:cat>
          <c:val>
            <c:numRef>
              <c:f>'TOP PRODUCT PERFORMANCE'!$B$3:$B$83</c:f>
              <c:numCache>
                <c:formatCode>General</c:formatCode>
                <c:ptCount val="80"/>
                <c:pt idx="0">
                  <c:v>7168.1299999999992</c:v>
                </c:pt>
                <c:pt idx="9">
                  <c:v>6748.9600000000009</c:v>
                </c:pt>
                <c:pt idx="10">
                  <c:v>11625.980000000001</c:v>
                </c:pt>
                <c:pt idx="17">
                  <c:v>6818.4400000000005</c:v>
                </c:pt>
                <c:pt idx="18">
                  <c:v>6861.88</c:v>
                </c:pt>
                <c:pt idx="34">
                  <c:v>6436.5600000000013</c:v>
                </c:pt>
                <c:pt idx="35">
                  <c:v>8011.6100000000006</c:v>
                </c:pt>
                <c:pt idx="37">
                  <c:v>6608.01</c:v>
                </c:pt>
                <c:pt idx="46">
                  <c:v>7626.62</c:v>
                </c:pt>
                <c:pt idx="55">
                  <c:v>5460</c:v>
                </c:pt>
                <c:pt idx="66">
                  <c:v>8949.4500000000007</c:v>
                </c:pt>
              </c:numCache>
            </c:numRef>
          </c:val>
        </c:ser>
        <c:ser>
          <c:idx val="1"/>
          <c:order val="1"/>
          <c:tx>
            <c:strRef>
              <c:f>'TOP PRODUCT PERFORMANCE'!$C$1:$C$2</c:f>
              <c:strCache>
                <c:ptCount val="1"/>
                <c:pt idx="0">
                  <c:v>Branded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'TOP PRODUCT PERFORMANCE'!$A$3:$A$83</c:f>
              <c:strCache>
                <c:ptCount val="80"/>
                <c:pt idx="0">
                  <c:v>Almond Croissant</c:v>
                </c:pt>
                <c:pt idx="1">
                  <c:v>Brazilian - Organic</c:v>
                </c:pt>
                <c:pt idx="2">
                  <c:v>Brazilian Lg</c:v>
                </c:pt>
                <c:pt idx="3">
                  <c:v>Brazilian Rg</c:v>
                </c:pt>
                <c:pt idx="4">
                  <c:v>Brazilian Sm</c:v>
                </c:pt>
                <c:pt idx="5">
                  <c:v>Cappuccino</c:v>
                </c:pt>
                <c:pt idx="6">
                  <c:v>Cappuccino Lg</c:v>
                </c:pt>
                <c:pt idx="7">
                  <c:v>Carmel syrup</c:v>
                </c:pt>
                <c:pt idx="8">
                  <c:v>Chili Mayan</c:v>
                </c:pt>
                <c:pt idx="9">
                  <c:v>Chocolate Chip Biscotti</c:v>
                </c:pt>
                <c:pt idx="10">
                  <c:v>Chocolate Croissant</c:v>
                </c:pt>
                <c:pt idx="11">
                  <c:v>Chocolate syrup</c:v>
                </c:pt>
                <c:pt idx="12">
                  <c:v>Civet Cat</c:v>
                </c:pt>
                <c:pt idx="13">
                  <c:v>Columbian Medium Roast</c:v>
                </c:pt>
                <c:pt idx="14">
                  <c:v>Columbian Medium Roast Lg</c:v>
                </c:pt>
                <c:pt idx="15">
                  <c:v>Columbian Medium Roast Rg</c:v>
                </c:pt>
                <c:pt idx="16">
                  <c:v>Columbian Medium Roast Sm</c:v>
                </c:pt>
                <c:pt idx="17">
                  <c:v>Cranberry Scone</c:v>
                </c:pt>
                <c:pt idx="18">
                  <c:v>Croissant</c:v>
                </c:pt>
                <c:pt idx="19">
                  <c:v>Dark chocolate</c:v>
                </c:pt>
                <c:pt idx="20">
                  <c:v>Dark chocolate Lg</c:v>
                </c:pt>
                <c:pt idx="21">
                  <c:v>Dark chocolate Rg</c:v>
                </c:pt>
                <c:pt idx="22">
                  <c:v>Earl Grey</c:v>
                </c:pt>
                <c:pt idx="23">
                  <c:v>Earl Grey Lg</c:v>
                </c:pt>
                <c:pt idx="24">
                  <c:v>Earl Grey Rg</c:v>
                </c:pt>
                <c:pt idx="25">
                  <c:v>English Breakfast</c:v>
                </c:pt>
                <c:pt idx="26">
                  <c:v>English Breakfast Lg</c:v>
                </c:pt>
                <c:pt idx="27">
                  <c:v>English Breakfast Rg</c:v>
                </c:pt>
                <c:pt idx="28">
                  <c:v>Espresso Roast</c:v>
                </c:pt>
                <c:pt idx="29">
                  <c:v>Espresso shot</c:v>
                </c:pt>
                <c:pt idx="30">
                  <c:v>Ethiopia</c:v>
                </c:pt>
                <c:pt idx="31">
                  <c:v>Ethiopia Lg</c:v>
                </c:pt>
                <c:pt idx="32">
                  <c:v>Ethiopia Rg</c:v>
                </c:pt>
                <c:pt idx="33">
                  <c:v>Ethiopia Sm</c:v>
                </c:pt>
                <c:pt idx="34">
                  <c:v>Ginger Biscotti</c:v>
                </c:pt>
                <c:pt idx="35">
                  <c:v>Ginger Scone</c:v>
                </c:pt>
                <c:pt idx="36">
                  <c:v>Guatemalan Sustainably Grown</c:v>
                </c:pt>
                <c:pt idx="37">
                  <c:v>Hazelnut Biscotti</c:v>
                </c:pt>
                <c:pt idx="38">
                  <c:v>Hazelnut syrup</c:v>
                </c:pt>
                <c:pt idx="39">
                  <c:v>I Need My Bean! Diner mug</c:v>
                </c:pt>
                <c:pt idx="40">
                  <c:v>I Need My Bean! Latte cup</c:v>
                </c:pt>
                <c:pt idx="41">
                  <c:v>I Need My Bean! T-shirt</c:v>
                </c:pt>
                <c:pt idx="42">
                  <c:v>Jamacian Coffee River</c:v>
                </c:pt>
                <c:pt idx="43">
                  <c:v>Jamaican Coffee River Lg</c:v>
                </c:pt>
                <c:pt idx="44">
                  <c:v>Jamaican Coffee River Rg</c:v>
                </c:pt>
                <c:pt idx="45">
                  <c:v>Jamaican Coffee River Sm</c:v>
                </c:pt>
                <c:pt idx="46">
                  <c:v>Jumbo Savory Scone</c:v>
                </c:pt>
                <c:pt idx="47">
                  <c:v>Latte</c:v>
                </c:pt>
                <c:pt idx="48">
                  <c:v>Latte Rg</c:v>
                </c:pt>
                <c:pt idx="49">
                  <c:v>Lemon Grass</c:v>
                </c:pt>
                <c:pt idx="50">
                  <c:v>Lemon Grass Lg</c:v>
                </c:pt>
                <c:pt idx="51">
                  <c:v>Lemon Grass Rg</c:v>
                </c:pt>
                <c:pt idx="52">
                  <c:v>Morning Sunrise Chai</c:v>
                </c:pt>
                <c:pt idx="53">
                  <c:v>Morning Sunrise Chai Lg</c:v>
                </c:pt>
                <c:pt idx="54">
                  <c:v>Morning Sunrise Chai Rg</c:v>
                </c:pt>
                <c:pt idx="55">
                  <c:v>Oatmeal Scone</c:v>
                </c:pt>
                <c:pt idx="56">
                  <c:v>Organic Decaf Blend</c:v>
                </c:pt>
                <c:pt idx="57">
                  <c:v>Our Old Time Diner Blend</c:v>
                </c:pt>
                <c:pt idx="58">
                  <c:v>Our Old Time Diner Blend Lg</c:v>
                </c:pt>
                <c:pt idx="59">
                  <c:v>Our Old Time Diner Blend Rg</c:v>
                </c:pt>
                <c:pt idx="60">
                  <c:v>Our Old Time Diner Blend Sm</c:v>
                </c:pt>
                <c:pt idx="61">
                  <c:v>Ouro Brasileiro shot</c:v>
                </c:pt>
                <c:pt idx="62">
                  <c:v>Peppermint</c:v>
                </c:pt>
                <c:pt idx="63">
                  <c:v>Peppermint Lg</c:v>
                </c:pt>
                <c:pt idx="64">
                  <c:v>Peppermint Rg</c:v>
                </c:pt>
                <c:pt idx="65">
                  <c:v>Primo Espresso Roast</c:v>
                </c:pt>
                <c:pt idx="66">
                  <c:v>Scottish Cream Scone</c:v>
                </c:pt>
                <c:pt idx="67">
                  <c:v>Serenity Green Tea</c:v>
                </c:pt>
                <c:pt idx="68">
                  <c:v>Serenity Green Tea Lg</c:v>
                </c:pt>
                <c:pt idx="69">
                  <c:v>Serenity Green Tea Rg</c:v>
                </c:pt>
                <c:pt idx="70">
                  <c:v>Spicy Eye Opener Chai</c:v>
                </c:pt>
                <c:pt idx="71">
                  <c:v>Spicy Eye Opener Chai Lg</c:v>
                </c:pt>
                <c:pt idx="72">
                  <c:v>Spicy Eye Opener Chai Rg</c:v>
                </c:pt>
                <c:pt idx="73">
                  <c:v>Sugar Free Vanilla syrup</c:v>
                </c:pt>
                <c:pt idx="74">
                  <c:v>Sustainably Grown Organic</c:v>
                </c:pt>
                <c:pt idx="75">
                  <c:v>Sustainably Grown Organic Lg</c:v>
                </c:pt>
                <c:pt idx="76">
                  <c:v>Sustainably Grown Organic Rg</c:v>
                </c:pt>
                <c:pt idx="77">
                  <c:v>Traditional Blend Chai</c:v>
                </c:pt>
                <c:pt idx="78">
                  <c:v>Traditional Blend Chai Lg</c:v>
                </c:pt>
                <c:pt idx="79">
                  <c:v>Traditional Blend Chai Rg</c:v>
                </c:pt>
              </c:strCache>
            </c:strRef>
          </c:cat>
          <c:val>
            <c:numRef>
              <c:f>'TOP PRODUCT PERFORMANCE'!$C$3:$C$83</c:f>
              <c:numCache>
                <c:formatCode>General</c:formatCode>
                <c:ptCount val="80"/>
                <c:pt idx="39">
                  <c:v>2935</c:v>
                </c:pt>
                <c:pt idx="40">
                  <c:v>4509</c:v>
                </c:pt>
                <c:pt idx="41">
                  <c:v>6163</c:v>
                </c:pt>
              </c:numCache>
            </c:numRef>
          </c:val>
        </c:ser>
        <c:ser>
          <c:idx val="2"/>
          <c:order val="2"/>
          <c:tx>
            <c:strRef>
              <c:f>'TOP PRODUCT PERFORMANCE'!$D$1:$D$2</c:f>
              <c:strCache>
                <c:ptCount val="1"/>
                <c:pt idx="0">
                  <c:v>Coffee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'TOP PRODUCT PERFORMANCE'!$A$3:$A$83</c:f>
              <c:strCache>
                <c:ptCount val="80"/>
                <c:pt idx="0">
                  <c:v>Almond Croissant</c:v>
                </c:pt>
                <c:pt idx="1">
                  <c:v>Brazilian - Organic</c:v>
                </c:pt>
                <c:pt idx="2">
                  <c:v>Brazilian Lg</c:v>
                </c:pt>
                <c:pt idx="3">
                  <c:v>Brazilian Rg</c:v>
                </c:pt>
                <c:pt idx="4">
                  <c:v>Brazilian Sm</c:v>
                </c:pt>
                <c:pt idx="5">
                  <c:v>Cappuccino</c:v>
                </c:pt>
                <c:pt idx="6">
                  <c:v>Cappuccino Lg</c:v>
                </c:pt>
                <c:pt idx="7">
                  <c:v>Carmel syrup</c:v>
                </c:pt>
                <c:pt idx="8">
                  <c:v>Chili Mayan</c:v>
                </c:pt>
                <c:pt idx="9">
                  <c:v>Chocolate Chip Biscotti</c:v>
                </c:pt>
                <c:pt idx="10">
                  <c:v>Chocolate Croissant</c:v>
                </c:pt>
                <c:pt idx="11">
                  <c:v>Chocolate syrup</c:v>
                </c:pt>
                <c:pt idx="12">
                  <c:v>Civet Cat</c:v>
                </c:pt>
                <c:pt idx="13">
                  <c:v>Columbian Medium Roast</c:v>
                </c:pt>
                <c:pt idx="14">
                  <c:v>Columbian Medium Roast Lg</c:v>
                </c:pt>
                <c:pt idx="15">
                  <c:v>Columbian Medium Roast Rg</c:v>
                </c:pt>
                <c:pt idx="16">
                  <c:v>Columbian Medium Roast Sm</c:v>
                </c:pt>
                <c:pt idx="17">
                  <c:v>Cranberry Scone</c:v>
                </c:pt>
                <c:pt idx="18">
                  <c:v>Croissant</c:v>
                </c:pt>
                <c:pt idx="19">
                  <c:v>Dark chocolate</c:v>
                </c:pt>
                <c:pt idx="20">
                  <c:v>Dark chocolate Lg</c:v>
                </c:pt>
                <c:pt idx="21">
                  <c:v>Dark chocolate Rg</c:v>
                </c:pt>
                <c:pt idx="22">
                  <c:v>Earl Grey</c:v>
                </c:pt>
                <c:pt idx="23">
                  <c:v>Earl Grey Lg</c:v>
                </c:pt>
                <c:pt idx="24">
                  <c:v>Earl Grey Rg</c:v>
                </c:pt>
                <c:pt idx="25">
                  <c:v>English Breakfast</c:v>
                </c:pt>
                <c:pt idx="26">
                  <c:v>English Breakfast Lg</c:v>
                </c:pt>
                <c:pt idx="27">
                  <c:v>English Breakfast Rg</c:v>
                </c:pt>
                <c:pt idx="28">
                  <c:v>Espresso Roast</c:v>
                </c:pt>
                <c:pt idx="29">
                  <c:v>Espresso shot</c:v>
                </c:pt>
                <c:pt idx="30">
                  <c:v>Ethiopia</c:v>
                </c:pt>
                <c:pt idx="31">
                  <c:v>Ethiopia Lg</c:v>
                </c:pt>
                <c:pt idx="32">
                  <c:v>Ethiopia Rg</c:v>
                </c:pt>
                <c:pt idx="33">
                  <c:v>Ethiopia Sm</c:v>
                </c:pt>
                <c:pt idx="34">
                  <c:v>Ginger Biscotti</c:v>
                </c:pt>
                <c:pt idx="35">
                  <c:v>Ginger Scone</c:v>
                </c:pt>
                <c:pt idx="36">
                  <c:v>Guatemalan Sustainably Grown</c:v>
                </c:pt>
                <c:pt idx="37">
                  <c:v>Hazelnut Biscotti</c:v>
                </c:pt>
                <c:pt idx="38">
                  <c:v>Hazelnut syrup</c:v>
                </c:pt>
                <c:pt idx="39">
                  <c:v>I Need My Bean! Diner mug</c:v>
                </c:pt>
                <c:pt idx="40">
                  <c:v>I Need My Bean! Latte cup</c:v>
                </c:pt>
                <c:pt idx="41">
                  <c:v>I Need My Bean! T-shirt</c:v>
                </c:pt>
                <c:pt idx="42">
                  <c:v>Jamacian Coffee River</c:v>
                </c:pt>
                <c:pt idx="43">
                  <c:v>Jamaican Coffee River Lg</c:v>
                </c:pt>
                <c:pt idx="44">
                  <c:v>Jamaican Coffee River Rg</c:v>
                </c:pt>
                <c:pt idx="45">
                  <c:v>Jamaican Coffee River Sm</c:v>
                </c:pt>
                <c:pt idx="46">
                  <c:v>Jumbo Savory Scone</c:v>
                </c:pt>
                <c:pt idx="47">
                  <c:v>Latte</c:v>
                </c:pt>
                <c:pt idx="48">
                  <c:v>Latte Rg</c:v>
                </c:pt>
                <c:pt idx="49">
                  <c:v>Lemon Grass</c:v>
                </c:pt>
                <c:pt idx="50">
                  <c:v>Lemon Grass Lg</c:v>
                </c:pt>
                <c:pt idx="51">
                  <c:v>Lemon Grass Rg</c:v>
                </c:pt>
                <c:pt idx="52">
                  <c:v>Morning Sunrise Chai</c:v>
                </c:pt>
                <c:pt idx="53">
                  <c:v>Morning Sunrise Chai Lg</c:v>
                </c:pt>
                <c:pt idx="54">
                  <c:v>Morning Sunrise Chai Rg</c:v>
                </c:pt>
                <c:pt idx="55">
                  <c:v>Oatmeal Scone</c:v>
                </c:pt>
                <c:pt idx="56">
                  <c:v>Organic Decaf Blend</c:v>
                </c:pt>
                <c:pt idx="57">
                  <c:v>Our Old Time Diner Blend</c:v>
                </c:pt>
                <c:pt idx="58">
                  <c:v>Our Old Time Diner Blend Lg</c:v>
                </c:pt>
                <c:pt idx="59">
                  <c:v>Our Old Time Diner Blend Rg</c:v>
                </c:pt>
                <c:pt idx="60">
                  <c:v>Our Old Time Diner Blend Sm</c:v>
                </c:pt>
                <c:pt idx="61">
                  <c:v>Ouro Brasileiro shot</c:v>
                </c:pt>
                <c:pt idx="62">
                  <c:v>Peppermint</c:v>
                </c:pt>
                <c:pt idx="63">
                  <c:v>Peppermint Lg</c:v>
                </c:pt>
                <c:pt idx="64">
                  <c:v>Peppermint Rg</c:v>
                </c:pt>
                <c:pt idx="65">
                  <c:v>Primo Espresso Roast</c:v>
                </c:pt>
                <c:pt idx="66">
                  <c:v>Scottish Cream Scone</c:v>
                </c:pt>
                <c:pt idx="67">
                  <c:v>Serenity Green Tea</c:v>
                </c:pt>
                <c:pt idx="68">
                  <c:v>Serenity Green Tea Lg</c:v>
                </c:pt>
                <c:pt idx="69">
                  <c:v>Serenity Green Tea Rg</c:v>
                </c:pt>
                <c:pt idx="70">
                  <c:v>Spicy Eye Opener Chai</c:v>
                </c:pt>
                <c:pt idx="71">
                  <c:v>Spicy Eye Opener Chai Lg</c:v>
                </c:pt>
                <c:pt idx="72">
                  <c:v>Spicy Eye Opener Chai Rg</c:v>
                </c:pt>
                <c:pt idx="73">
                  <c:v>Sugar Free Vanilla syrup</c:v>
                </c:pt>
                <c:pt idx="74">
                  <c:v>Sustainably Grown Organic</c:v>
                </c:pt>
                <c:pt idx="75">
                  <c:v>Sustainably Grown Organic Lg</c:v>
                </c:pt>
                <c:pt idx="76">
                  <c:v>Sustainably Grown Organic Rg</c:v>
                </c:pt>
                <c:pt idx="77">
                  <c:v>Traditional Blend Chai</c:v>
                </c:pt>
                <c:pt idx="78">
                  <c:v>Traditional Blend Chai Lg</c:v>
                </c:pt>
                <c:pt idx="79">
                  <c:v>Traditional Blend Chai Rg</c:v>
                </c:pt>
              </c:strCache>
            </c:strRef>
          </c:cat>
          <c:val>
            <c:numRef>
              <c:f>'TOP PRODUCT PERFORMANCE'!$D$3:$D$83</c:f>
              <c:numCache>
                <c:formatCode>General</c:formatCode>
                <c:ptCount val="80"/>
                <c:pt idx="2">
                  <c:v>15109.5</c:v>
                </c:pt>
                <c:pt idx="3">
                  <c:v>13155</c:v>
                </c:pt>
                <c:pt idx="4">
                  <c:v>9482.0000000000036</c:v>
                </c:pt>
                <c:pt idx="5">
                  <c:v>15997.5</c:v>
                </c:pt>
                <c:pt idx="6">
                  <c:v>17641.75</c:v>
                </c:pt>
                <c:pt idx="14">
                  <c:v>12585</c:v>
                </c:pt>
                <c:pt idx="15">
                  <c:v>11367.5</c:v>
                </c:pt>
                <c:pt idx="16">
                  <c:v>8356</c:v>
                </c:pt>
                <c:pt idx="29">
                  <c:v>12495</c:v>
                </c:pt>
                <c:pt idx="31">
                  <c:v>14794.5</c:v>
                </c:pt>
                <c:pt idx="32">
                  <c:v>13179</c:v>
                </c:pt>
                <c:pt idx="33">
                  <c:v>9752.5999999999967</c:v>
                </c:pt>
                <c:pt idx="43">
                  <c:v>16481.25</c:v>
                </c:pt>
                <c:pt idx="44">
                  <c:v>12455.800000000003</c:v>
                </c:pt>
                <c:pt idx="45">
                  <c:v>9844.1000000000076</c:v>
                </c:pt>
                <c:pt idx="47">
                  <c:v>17257.5</c:v>
                </c:pt>
                <c:pt idx="48">
                  <c:v>19112.25</c:v>
                </c:pt>
                <c:pt idx="58">
                  <c:v>11991</c:v>
                </c:pt>
                <c:pt idx="59">
                  <c:v>11025</c:v>
                </c:pt>
                <c:pt idx="60">
                  <c:v>8968</c:v>
                </c:pt>
                <c:pt idx="61">
                  <c:v>8902.2000000000007</c:v>
                </c:pt>
              </c:numCache>
            </c:numRef>
          </c:val>
        </c:ser>
        <c:ser>
          <c:idx val="3"/>
          <c:order val="3"/>
          <c:tx>
            <c:strRef>
              <c:f>'TOP PRODUCT PERFORMANCE'!$E$1:$E$2</c:f>
              <c:strCache>
                <c:ptCount val="1"/>
                <c:pt idx="0">
                  <c:v>Coffee beans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'TOP PRODUCT PERFORMANCE'!$A$3:$A$83</c:f>
              <c:strCache>
                <c:ptCount val="80"/>
                <c:pt idx="0">
                  <c:v>Almond Croissant</c:v>
                </c:pt>
                <c:pt idx="1">
                  <c:v>Brazilian - Organic</c:v>
                </c:pt>
                <c:pt idx="2">
                  <c:v>Brazilian Lg</c:v>
                </c:pt>
                <c:pt idx="3">
                  <c:v>Brazilian Rg</c:v>
                </c:pt>
                <c:pt idx="4">
                  <c:v>Brazilian Sm</c:v>
                </c:pt>
                <c:pt idx="5">
                  <c:v>Cappuccino</c:v>
                </c:pt>
                <c:pt idx="6">
                  <c:v>Cappuccino Lg</c:v>
                </c:pt>
                <c:pt idx="7">
                  <c:v>Carmel syrup</c:v>
                </c:pt>
                <c:pt idx="8">
                  <c:v>Chili Mayan</c:v>
                </c:pt>
                <c:pt idx="9">
                  <c:v>Chocolate Chip Biscotti</c:v>
                </c:pt>
                <c:pt idx="10">
                  <c:v>Chocolate Croissant</c:v>
                </c:pt>
                <c:pt idx="11">
                  <c:v>Chocolate syrup</c:v>
                </c:pt>
                <c:pt idx="12">
                  <c:v>Civet Cat</c:v>
                </c:pt>
                <c:pt idx="13">
                  <c:v>Columbian Medium Roast</c:v>
                </c:pt>
                <c:pt idx="14">
                  <c:v>Columbian Medium Roast Lg</c:v>
                </c:pt>
                <c:pt idx="15">
                  <c:v>Columbian Medium Roast Rg</c:v>
                </c:pt>
                <c:pt idx="16">
                  <c:v>Columbian Medium Roast Sm</c:v>
                </c:pt>
                <c:pt idx="17">
                  <c:v>Cranberry Scone</c:v>
                </c:pt>
                <c:pt idx="18">
                  <c:v>Croissant</c:v>
                </c:pt>
                <c:pt idx="19">
                  <c:v>Dark chocolate</c:v>
                </c:pt>
                <c:pt idx="20">
                  <c:v>Dark chocolate Lg</c:v>
                </c:pt>
                <c:pt idx="21">
                  <c:v>Dark chocolate Rg</c:v>
                </c:pt>
                <c:pt idx="22">
                  <c:v>Earl Grey</c:v>
                </c:pt>
                <c:pt idx="23">
                  <c:v>Earl Grey Lg</c:v>
                </c:pt>
                <c:pt idx="24">
                  <c:v>Earl Grey Rg</c:v>
                </c:pt>
                <c:pt idx="25">
                  <c:v>English Breakfast</c:v>
                </c:pt>
                <c:pt idx="26">
                  <c:v>English Breakfast Lg</c:v>
                </c:pt>
                <c:pt idx="27">
                  <c:v>English Breakfast Rg</c:v>
                </c:pt>
                <c:pt idx="28">
                  <c:v>Espresso Roast</c:v>
                </c:pt>
                <c:pt idx="29">
                  <c:v>Espresso shot</c:v>
                </c:pt>
                <c:pt idx="30">
                  <c:v>Ethiopia</c:v>
                </c:pt>
                <c:pt idx="31">
                  <c:v>Ethiopia Lg</c:v>
                </c:pt>
                <c:pt idx="32">
                  <c:v>Ethiopia Rg</c:v>
                </c:pt>
                <c:pt idx="33">
                  <c:v>Ethiopia Sm</c:v>
                </c:pt>
                <c:pt idx="34">
                  <c:v>Ginger Biscotti</c:v>
                </c:pt>
                <c:pt idx="35">
                  <c:v>Ginger Scone</c:v>
                </c:pt>
                <c:pt idx="36">
                  <c:v>Guatemalan Sustainably Grown</c:v>
                </c:pt>
                <c:pt idx="37">
                  <c:v>Hazelnut Biscotti</c:v>
                </c:pt>
                <c:pt idx="38">
                  <c:v>Hazelnut syrup</c:v>
                </c:pt>
                <c:pt idx="39">
                  <c:v>I Need My Bean! Diner mug</c:v>
                </c:pt>
                <c:pt idx="40">
                  <c:v>I Need My Bean! Latte cup</c:v>
                </c:pt>
                <c:pt idx="41">
                  <c:v>I Need My Bean! T-shirt</c:v>
                </c:pt>
                <c:pt idx="42">
                  <c:v>Jamacian Coffee River</c:v>
                </c:pt>
                <c:pt idx="43">
                  <c:v>Jamaican Coffee River Lg</c:v>
                </c:pt>
                <c:pt idx="44">
                  <c:v>Jamaican Coffee River Rg</c:v>
                </c:pt>
                <c:pt idx="45">
                  <c:v>Jamaican Coffee River Sm</c:v>
                </c:pt>
                <c:pt idx="46">
                  <c:v>Jumbo Savory Scone</c:v>
                </c:pt>
                <c:pt idx="47">
                  <c:v>Latte</c:v>
                </c:pt>
                <c:pt idx="48">
                  <c:v>Latte Rg</c:v>
                </c:pt>
                <c:pt idx="49">
                  <c:v>Lemon Grass</c:v>
                </c:pt>
                <c:pt idx="50">
                  <c:v>Lemon Grass Lg</c:v>
                </c:pt>
                <c:pt idx="51">
                  <c:v>Lemon Grass Rg</c:v>
                </c:pt>
                <c:pt idx="52">
                  <c:v>Morning Sunrise Chai</c:v>
                </c:pt>
                <c:pt idx="53">
                  <c:v>Morning Sunrise Chai Lg</c:v>
                </c:pt>
                <c:pt idx="54">
                  <c:v>Morning Sunrise Chai Rg</c:v>
                </c:pt>
                <c:pt idx="55">
                  <c:v>Oatmeal Scone</c:v>
                </c:pt>
                <c:pt idx="56">
                  <c:v>Organic Decaf Blend</c:v>
                </c:pt>
                <c:pt idx="57">
                  <c:v>Our Old Time Diner Blend</c:v>
                </c:pt>
                <c:pt idx="58">
                  <c:v>Our Old Time Diner Blend Lg</c:v>
                </c:pt>
                <c:pt idx="59">
                  <c:v>Our Old Time Diner Blend Rg</c:v>
                </c:pt>
                <c:pt idx="60">
                  <c:v>Our Old Time Diner Blend Sm</c:v>
                </c:pt>
                <c:pt idx="61">
                  <c:v>Ouro Brasileiro shot</c:v>
                </c:pt>
                <c:pt idx="62">
                  <c:v>Peppermint</c:v>
                </c:pt>
                <c:pt idx="63">
                  <c:v>Peppermint Lg</c:v>
                </c:pt>
                <c:pt idx="64">
                  <c:v>Peppermint Rg</c:v>
                </c:pt>
                <c:pt idx="65">
                  <c:v>Primo Espresso Roast</c:v>
                </c:pt>
                <c:pt idx="66">
                  <c:v>Scottish Cream Scone</c:v>
                </c:pt>
                <c:pt idx="67">
                  <c:v>Serenity Green Tea</c:v>
                </c:pt>
                <c:pt idx="68">
                  <c:v>Serenity Green Tea Lg</c:v>
                </c:pt>
                <c:pt idx="69">
                  <c:v>Serenity Green Tea Rg</c:v>
                </c:pt>
                <c:pt idx="70">
                  <c:v>Spicy Eye Opener Chai</c:v>
                </c:pt>
                <c:pt idx="71">
                  <c:v>Spicy Eye Opener Chai Lg</c:v>
                </c:pt>
                <c:pt idx="72">
                  <c:v>Spicy Eye Opener Chai Rg</c:v>
                </c:pt>
                <c:pt idx="73">
                  <c:v>Sugar Free Vanilla syrup</c:v>
                </c:pt>
                <c:pt idx="74">
                  <c:v>Sustainably Grown Organic</c:v>
                </c:pt>
                <c:pt idx="75">
                  <c:v>Sustainably Grown Organic Lg</c:v>
                </c:pt>
                <c:pt idx="76">
                  <c:v>Sustainably Grown Organic Rg</c:v>
                </c:pt>
                <c:pt idx="77">
                  <c:v>Traditional Blend Chai</c:v>
                </c:pt>
                <c:pt idx="78">
                  <c:v>Traditional Blend Chai Lg</c:v>
                </c:pt>
                <c:pt idx="79">
                  <c:v>Traditional Blend Chai Rg</c:v>
                </c:pt>
              </c:strCache>
            </c:strRef>
          </c:cat>
          <c:val>
            <c:numRef>
              <c:f>'TOP PRODUCT PERFORMANCE'!$E$3:$E$83</c:f>
              <c:numCache>
                <c:formatCode>General</c:formatCode>
                <c:ptCount val="80"/>
                <c:pt idx="1">
                  <c:v>3852</c:v>
                </c:pt>
                <c:pt idx="12">
                  <c:v>11700</c:v>
                </c:pt>
                <c:pt idx="13">
                  <c:v>2220</c:v>
                </c:pt>
                <c:pt idx="28">
                  <c:v>2492.75</c:v>
                </c:pt>
                <c:pt idx="30">
                  <c:v>4578</c:v>
                </c:pt>
                <c:pt idx="36">
                  <c:v>1340</c:v>
                </c:pt>
                <c:pt idx="42">
                  <c:v>2883.5</c:v>
                </c:pt>
                <c:pt idx="56">
                  <c:v>4657.5</c:v>
                </c:pt>
                <c:pt idx="57">
                  <c:v>3294</c:v>
                </c:pt>
                <c:pt idx="65">
                  <c:v>3067.5</c:v>
                </c:pt>
              </c:numCache>
            </c:numRef>
          </c:val>
        </c:ser>
        <c:ser>
          <c:idx val="4"/>
          <c:order val="4"/>
          <c:tx>
            <c:strRef>
              <c:f>'TOP PRODUCT PERFORMANCE'!$F$1:$F$2</c:f>
              <c:strCache>
                <c:ptCount val="1"/>
                <c:pt idx="0">
                  <c:v>Drinking Chocolate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'TOP PRODUCT PERFORMANCE'!$A$3:$A$83</c:f>
              <c:strCache>
                <c:ptCount val="80"/>
                <c:pt idx="0">
                  <c:v>Almond Croissant</c:v>
                </c:pt>
                <c:pt idx="1">
                  <c:v>Brazilian - Organic</c:v>
                </c:pt>
                <c:pt idx="2">
                  <c:v>Brazilian Lg</c:v>
                </c:pt>
                <c:pt idx="3">
                  <c:v>Brazilian Rg</c:v>
                </c:pt>
                <c:pt idx="4">
                  <c:v>Brazilian Sm</c:v>
                </c:pt>
                <c:pt idx="5">
                  <c:v>Cappuccino</c:v>
                </c:pt>
                <c:pt idx="6">
                  <c:v>Cappuccino Lg</c:v>
                </c:pt>
                <c:pt idx="7">
                  <c:v>Carmel syrup</c:v>
                </c:pt>
                <c:pt idx="8">
                  <c:v>Chili Mayan</c:v>
                </c:pt>
                <c:pt idx="9">
                  <c:v>Chocolate Chip Biscotti</c:v>
                </c:pt>
                <c:pt idx="10">
                  <c:v>Chocolate Croissant</c:v>
                </c:pt>
                <c:pt idx="11">
                  <c:v>Chocolate syrup</c:v>
                </c:pt>
                <c:pt idx="12">
                  <c:v>Civet Cat</c:v>
                </c:pt>
                <c:pt idx="13">
                  <c:v>Columbian Medium Roast</c:v>
                </c:pt>
                <c:pt idx="14">
                  <c:v>Columbian Medium Roast Lg</c:v>
                </c:pt>
                <c:pt idx="15">
                  <c:v>Columbian Medium Roast Rg</c:v>
                </c:pt>
                <c:pt idx="16">
                  <c:v>Columbian Medium Roast Sm</c:v>
                </c:pt>
                <c:pt idx="17">
                  <c:v>Cranberry Scone</c:v>
                </c:pt>
                <c:pt idx="18">
                  <c:v>Croissant</c:v>
                </c:pt>
                <c:pt idx="19">
                  <c:v>Dark chocolate</c:v>
                </c:pt>
                <c:pt idx="20">
                  <c:v>Dark chocolate Lg</c:v>
                </c:pt>
                <c:pt idx="21">
                  <c:v>Dark chocolate Rg</c:v>
                </c:pt>
                <c:pt idx="22">
                  <c:v>Earl Grey</c:v>
                </c:pt>
                <c:pt idx="23">
                  <c:v>Earl Grey Lg</c:v>
                </c:pt>
                <c:pt idx="24">
                  <c:v>Earl Grey Rg</c:v>
                </c:pt>
                <c:pt idx="25">
                  <c:v>English Breakfast</c:v>
                </c:pt>
                <c:pt idx="26">
                  <c:v>English Breakfast Lg</c:v>
                </c:pt>
                <c:pt idx="27">
                  <c:v>English Breakfast Rg</c:v>
                </c:pt>
                <c:pt idx="28">
                  <c:v>Espresso Roast</c:v>
                </c:pt>
                <c:pt idx="29">
                  <c:v>Espresso shot</c:v>
                </c:pt>
                <c:pt idx="30">
                  <c:v>Ethiopia</c:v>
                </c:pt>
                <c:pt idx="31">
                  <c:v>Ethiopia Lg</c:v>
                </c:pt>
                <c:pt idx="32">
                  <c:v>Ethiopia Rg</c:v>
                </c:pt>
                <c:pt idx="33">
                  <c:v>Ethiopia Sm</c:v>
                </c:pt>
                <c:pt idx="34">
                  <c:v>Ginger Biscotti</c:v>
                </c:pt>
                <c:pt idx="35">
                  <c:v>Ginger Scone</c:v>
                </c:pt>
                <c:pt idx="36">
                  <c:v>Guatemalan Sustainably Grown</c:v>
                </c:pt>
                <c:pt idx="37">
                  <c:v>Hazelnut Biscotti</c:v>
                </c:pt>
                <c:pt idx="38">
                  <c:v>Hazelnut syrup</c:v>
                </c:pt>
                <c:pt idx="39">
                  <c:v>I Need My Bean! Diner mug</c:v>
                </c:pt>
                <c:pt idx="40">
                  <c:v>I Need My Bean! Latte cup</c:v>
                </c:pt>
                <c:pt idx="41">
                  <c:v>I Need My Bean! T-shirt</c:v>
                </c:pt>
                <c:pt idx="42">
                  <c:v>Jamacian Coffee River</c:v>
                </c:pt>
                <c:pt idx="43">
                  <c:v>Jamaican Coffee River Lg</c:v>
                </c:pt>
                <c:pt idx="44">
                  <c:v>Jamaican Coffee River Rg</c:v>
                </c:pt>
                <c:pt idx="45">
                  <c:v>Jamaican Coffee River Sm</c:v>
                </c:pt>
                <c:pt idx="46">
                  <c:v>Jumbo Savory Scone</c:v>
                </c:pt>
                <c:pt idx="47">
                  <c:v>Latte</c:v>
                </c:pt>
                <c:pt idx="48">
                  <c:v>Latte Rg</c:v>
                </c:pt>
                <c:pt idx="49">
                  <c:v>Lemon Grass</c:v>
                </c:pt>
                <c:pt idx="50">
                  <c:v>Lemon Grass Lg</c:v>
                </c:pt>
                <c:pt idx="51">
                  <c:v>Lemon Grass Rg</c:v>
                </c:pt>
                <c:pt idx="52">
                  <c:v>Morning Sunrise Chai</c:v>
                </c:pt>
                <c:pt idx="53">
                  <c:v>Morning Sunrise Chai Lg</c:v>
                </c:pt>
                <c:pt idx="54">
                  <c:v>Morning Sunrise Chai Rg</c:v>
                </c:pt>
                <c:pt idx="55">
                  <c:v>Oatmeal Scone</c:v>
                </c:pt>
                <c:pt idx="56">
                  <c:v>Organic Decaf Blend</c:v>
                </c:pt>
                <c:pt idx="57">
                  <c:v>Our Old Time Diner Blend</c:v>
                </c:pt>
                <c:pt idx="58">
                  <c:v>Our Old Time Diner Blend Lg</c:v>
                </c:pt>
                <c:pt idx="59">
                  <c:v>Our Old Time Diner Blend Rg</c:v>
                </c:pt>
                <c:pt idx="60">
                  <c:v>Our Old Time Diner Blend Sm</c:v>
                </c:pt>
                <c:pt idx="61">
                  <c:v>Ouro Brasileiro shot</c:v>
                </c:pt>
                <c:pt idx="62">
                  <c:v>Peppermint</c:v>
                </c:pt>
                <c:pt idx="63">
                  <c:v>Peppermint Lg</c:v>
                </c:pt>
                <c:pt idx="64">
                  <c:v>Peppermint Rg</c:v>
                </c:pt>
                <c:pt idx="65">
                  <c:v>Primo Espresso Roast</c:v>
                </c:pt>
                <c:pt idx="66">
                  <c:v>Scottish Cream Scone</c:v>
                </c:pt>
                <c:pt idx="67">
                  <c:v>Serenity Green Tea</c:v>
                </c:pt>
                <c:pt idx="68">
                  <c:v>Serenity Green Tea Lg</c:v>
                </c:pt>
                <c:pt idx="69">
                  <c:v>Serenity Green Tea Rg</c:v>
                </c:pt>
                <c:pt idx="70">
                  <c:v>Spicy Eye Opener Chai</c:v>
                </c:pt>
                <c:pt idx="71">
                  <c:v>Spicy Eye Opener Chai Lg</c:v>
                </c:pt>
                <c:pt idx="72">
                  <c:v>Spicy Eye Opener Chai Rg</c:v>
                </c:pt>
                <c:pt idx="73">
                  <c:v>Sugar Free Vanilla syrup</c:v>
                </c:pt>
                <c:pt idx="74">
                  <c:v>Sustainably Grown Organic</c:v>
                </c:pt>
                <c:pt idx="75">
                  <c:v>Sustainably Grown Organic Lg</c:v>
                </c:pt>
                <c:pt idx="76">
                  <c:v>Sustainably Grown Organic Rg</c:v>
                </c:pt>
                <c:pt idx="77">
                  <c:v>Traditional Blend Chai</c:v>
                </c:pt>
                <c:pt idx="78">
                  <c:v>Traditional Blend Chai Lg</c:v>
                </c:pt>
                <c:pt idx="79">
                  <c:v>Traditional Blend Chai Rg</c:v>
                </c:pt>
              </c:strCache>
            </c:strRef>
          </c:cat>
          <c:val>
            <c:numRef>
              <c:f>'TOP PRODUCT PERFORMANCE'!$F$3:$F$83</c:f>
              <c:numCache>
                <c:formatCode>General</c:formatCode>
                <c:ptCount val="80"/>
                <c:pt idx="20">
                  <c:v>21006</c:v>
                </c:pt>
                <c:pt idx="21">
                  <c:v>14024.5</c:v>
                </c:pt>
                <c:pt idx="75">
                  <c:v>21151.75</c:v>
                </c:pt>
                <c:pt idx="76">
                  <c:v>16233.75</c:v>
                </c:pt>
              </c:numCache>
            </c:numRef>
          </c:val>
        </c:ser>
        <c:ser>
          <c:idx val="5"/>
          <c:order val="5"/>
          <c:tx>
            <c:strRef>
              <c:f>'TOP PRODUCT PERFORMANCE'!$G$1:$G$2</c:f>
              <c:strCache>
                <c:ptCount val="1"/>
                <c:pt idx="0">
                  <c:v>Flavours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'TOP PRODUCT PERFORMANCE'!$A$3:$A$83</c:f>
              <c:strCache>
                <c:ptCount val="80"/>
                <c:pt idx="0">
                  <c:v>Almond Croissant</c:v>
                </c:pt>
                <c:pt idx="1">
                  <c:v>Brazilian - Organic</c:v>
                </c:pt>
                <c:pt idx="2">
                  <c:v>Brazilian Lg</c:v>
                </c:pt>
                <c:pt idx="3">
                  <c:v>Brazilian Rg</c:v>
                </c:pt>
                <c:pt idx="4">
                  <c:v>Brazilian Sm</c:v>
                </c:pt>
                <c:pt idx="5">
                  <c:v>Cappuccino</c:v>
                </c:pt>
                <c:pt idx="6">
                  <c:v>Cappuccino Lg</c:v>
                </c:pt>
                <c:pt idx="7">
                  <c:v>Carmel syrup</c:v>
                </c:pt>
                <c:pt idx="8">
                  <c:v>Chili Mayan</c:v>
                </c:pt>
                <c:pt idx="9">
                  <c:v>Chocolate Chip Biscotti</c:v>
                </c:pt>
                <c:pt idx="10">
                  <c:v>Chocolate Croissant</c:v>
                </c:pt>
                <c:pt idx="11">
                  <c:v>Chocolate syrup</c:v>
                </c:pt>
                <c:pt idx="12">
                  <c:v>Civet Cat</c:v>
                </c:pt>
                <c:pt idx="13">
                  <c:v>Columbian Medium Roast</c:v>
                </c:pt>
                <c:pt idx="14">
                  <c:v>Columbian Medium Roast Lg</c:v>
                </c:pt>
                <c:pt idx="15">
                  <c:v>Columbian Medium Roast Rg</c:v>
                </c:pt>
                <c:pt idx="16">
                  <c:v>Columbian Medium Roast Sm</c:v>
                </c:pt>
                <c:pt idx="17">
                  <c:v>Cranberry Scone</c:v>
                </c:pt>
                <c:pt idx="18">
                  <c:v>Croissant</c:v>
                </c:pt>
                <c:pt idx="19">
                  <c:v>Dark chocolate</c:v>
                </c:pt>
                <c:pt idx="20">
                  <c:v>Dark chocolate Lg</c:v>
                </c:pt>
                <c:pt idx="21">
                  <c:v>Dark chocolate Rg</c:v>
                </c:pt>
                <c:pt idx="22">
                  <c:v>Earl Grey</c:v>
                </c:pt>
                <c:pt idx="23">
                  <c:v>Earl Grey Lg</c:v>
                </c:pt>
                <c:pt idx="24">
                  <c:v>Earl Grey Rg</c:v>
                </c:pt>
                <c:pt idx="25">
                  <c:v>English Breakfast</c:v>
                </c:pt>
                <c:pt idx="26">
                  <c:v>English Breakfast Lg</c:v>
                </c:pt>
                <c:pt idx="27">
                  <c:v>English Breakfast Rg</c:v>
                </c:pt>
                <c:pt idx="28">
                  <c:v>Espresso Roast</c:v>
                </c:pt>
                <c:pt idx="29">
                  <c:v>Espresso shot</c:v>
                </c:pt>
                <c:pt idx="30">
                  <c:v>Ethiopia</c:v>
                </c:pt>
                <c:pt idx="31">
                  <c:v>Ethiopia Lg</c:v>
                </c:pt>
                <c:pt idx="32">
                  <c:v>Ethiopia Rg</c:v>
                </c:pt>
                <c:pt idx="33">
                  <c:v>Ethiopia Sm</c:v>
                </c:pt>
                <c:pt idx="34">
                  <c:v>Ginger Biscotti</c:v>
                </c:pt>
                <c:pt idx="35">
                  <c:v>Ginger Scone</c:v>
                </c:pt>
                <c:pt idx="36">
                  <c:v>Guatemalan Sustainably Grown</c:v>
                </c:pt>
                <c:pt idx="37">
                  <c:v>Hazelnut Biscotti</c:v>
                </c:pt>
                <c:pt idx="38">
                  <c:v>Hazelnut syrup</c:v>
                </c:pt>
                <c:pt idx="39">
                  <c:v>I Need My Bean! Diner mug</c:v>
                </c:pt>
                <c:pt idx="40">
                  <c:v>I Need My Bean! Latte cup</c:v>
                </c:pt>
                <c:pt idx="41">
                  <c:v>I Need My Bean! T-shirt</c:v>
                </c:pt>
                <c:pt idx="42">
                  <c:v>Jamacian Coffee River</c:v>
                </c:pt>
                <c:pt idx="43">
                  <c:v>Jamaican Coffee River Lg</c:v>
                </c:pt>
                <c:pt idx="44">
                  <c:v>Jamaican Coffee River Rg</c:v>
                </c:pt>
                <c:pt idx="45">
                  <c:v>Jamaican Coffee River Sm</c:v>
                </c:pt>
                <c:pt idx="46">
                  <c:v>Jumbo Savory Scone</c:v>
                </c:pt>
                <c:pt idx="47">
                  <c:v>Latte</c:v>
                </c:pt>
                <c:pt idx="48">
                  <c:v>Latte Rg</c:v>
                </c:pt>
                <c:pt idx="49">
                  <c:v>Lemon Grass</c:v>
                </c:pt>
                <c:pt idx="50">
                  <c:v>Lemon Grass Lg</c:v>
                </c:pt>
                <c:pt idx="51">
                  <c:v>Lemon Grass Rg</c:v>
                </c:pt>
                <c:pt idx="52">
                  <c:v>Morning Sunrise Chai</c:v>
                </c:pt>
                <c:pt idx="53">
                  <c:v>Morning Sunrise Chai Lg</c:v>
                </c:pt>
                <c:pt idx="54">
                  <c:v>Morning Sunrise Chai Rg</c:v>
                </c:pt>
                <c:pt idx="55">
                  <c:v>Oatmeal Scone</c:v>
                </c:pt>
                <c:pt idx="56">
                  <c:v>Organic Decaf Blend</c:v>
                </c:pt>
                <c:pt idx="57">
                  <c:v>Our Old Time Diner Blend</c:v>
                </c:pt>
                <c:pt idx="58">
                  <c:v>Our Old Time Diner Blend Lg</c:v>
                </c:pt>
                <c:pt idx="59">
                  <c:v>Our Old Time Diner Blend Rg</c:v>
                </c:pt>
                <c:pt idx="60">
                  <c:v>Our Old Time Diner Blend Sm</c:v>
                </c:pt>
                <c:pt idx="61">
                  <c:v>Ouro Brasileiro shot</c:v>
                </c:pt>
                <c:pt idx="62">
                  <c:v>Peppermint</c:v>
                </c:pt>
                <c:pt idx="63">
                  <c:v>Peppermint Lg</c:v>
                </c:pt>
                <c:pt idx="64">
                  <c:v>Peppermint Rg</c:v>
                </c:pt>
                <c:pt idx="65">
                  <c:v>Primo Espresso Roast</c:v>
                </c:pt>
                <c:pt idx="66">
                  <c:v>Scottish Cream Scone</c:v>
                </c:pt>
                <c:pt idx="67">
                  <c:v>Serenity Green Tea</c:v>
                </c:pt>
                <c:pt idx="68">
                  <c:v>Serenity Green Tea Lg</c:v>
                </c:pt>
                <c:pt idx="69">
                  <c:v>Serenity Green Tea Rg</c:v>
                </c:pt>
                <c:pt idx="70">
                  <c:v>Spicy Eye Opener Chai</c:v>
                </c:pt>
                <c:pt idx="71">
                  <c:v>Spicy Eye Opener Chai Lg</c:v>
                </c:pt>
                <c:pt idx="72">
                  <c:v>Spicy Eye Opener Chai Rg</c:v>
                </c:pt>
                <c:pt idx="73">
                  <c:v>Sugar Free Vanilla syrup</c:v>
                </c:pt>
                <c:pt idx="74">
                  <c:v>Sustainably Grown Organic</c:v>
                </c:pt>
                <c:pt idx="75">
                  <c:v>Sustainably Grown Organic Lg</c:v>
                </c:pt>
                <c:pt idx="76">
                  <c:v>Sustainably Grown Organic Rg</c:v>
                </c:pt>
                <c:pt idx="77">
                  <c:v>Traditional Blend Chai</c:v>
                </c:pt>
                <c:pt idx="78">
                  <c:v>Traditional Blend Chai Lg</c:v>
                </c:pt>
                <c:pt idx="79">
                  <c:v>Traditional Blend Chai Rg</c:v>
                </c:pt>
              </c:strCache>
            </c:strRef>
          </c:cat>
          <c:val>
            <c:numRef>
              <c:f>'TOP PRODUCT PERFORMANCE'!$G$3:$G$83</c:f>
              <c:numCache>
                <c:formatCode>General</c:formatCode>
                <c:ptCount val="80"/>
                <c:pt idx="7">
                  <c:v>2060.8000000000006</c:v>
                </c:pt>
                <c:pt idx="11">
                  <c:v>2126.3999999999996</c:v>
                </c:pt>
                <c:pt idx="38">
                  <c:v>1897.5999999999992</c:v>
                </c:pt>
                <c:pt idx="73">
                  <c:v>2323.9999999999995</c:v>
                </c:pt>
              </c:numCache>
            </c:numRef>
          </c:val>
        </c:ser>
        <c:ser>
          <c:idx val="6"/>
          <c:order val="6"/>
          <c:tx>
            <c:strRef>
              <c:f>'TOP PRODUCT PERFORMANCE'!$H$1:$H$2</c:f>
              <c:strCache>
                <c:ptCount val="1"/>
                <c:pt idx="0">
                  <c:v>Loose Tea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'TOP PRODUCT PERFORMANCE'!$A$3:$A$83</c:f>
              <c:strCache>
                <c:ptCount val="80"/>
                <c:pt idx="0">
                  <c:v>Almond Croissant</c:v>
                </c:pt>
                <c:pt idx="1">
                  <c:v>Brazilian - Organic</c:v>
                </c:pt>
                <c:pt idx="2">
                  <c:v>Brazilian Lg</c:v>
                </c:pt>
                <c:pt idx="3">
                  <c:v>Brazilian Rg</c:v>
                </c:pt>
                <c:pt idx="4">
                  <c:v>Brazilian Sm</c:v>
                </c:pt>
                <c:pt idx="5">
                  <c:v>Cappuccino</c:v>
                </c:pt>
                <c:pt idx="6">
                  <c:v>Cappuccino Lg</c:v>
                </c:pt>
                <c:pt idx="7">
                  <c:v>Carmel syrup</c:v>
                </c:pt>
                <c:pt idx="8">
                  <c:v>Chili Mayan</c:v>
                </c:pt>
                <c:pt idx="9">
                  <c:v>Chocolate Chip Biscotti</c:v>
                </c:pt>
                <c:pt idx="10">
                  <c:v>Chocolate Croissant</c:v>
                </c:pt>
                <c:pt idx="11">
                  <c:v>Chocolate syrup</c:v>
                </c:pt>
                <c:pt idx="12">
                  <c:v>Civet Cat</c:v>
                </c:pt>
                <c:pt idx="13">
                  <c:v>Columbian Medium Roast</c:v>
                </c:pt>
                <c:pt idx="14">
                  <c:v>Columbian Medium Roast Lg</c:v>
                </c:pt>
                <c:pt idx="15">
                  <c:v>Columbian Medium Roast Rg</c:v>
                </c:pt>
                <c:pt idx="16">
                  <c:v>Columbian Medium Roast Sm</c:v>
                </c:pt>
                <c:pt idx="17">
                  <c:v>Cranberry Scone</c:v>
                </c:pt>
                <c:pt idx="18">
                  <c:v>Croissant</c:v>
                </c:pt>
                <c:pt idx="19">
                  <c:v>Dark chocolate</c:v>
                </c:pt>
                <c:pt idx="20">
                  <c:v>Dark chocolate Lg</c:v>
                </c:pt>
                <c:pt idx="21">
                  <c:v>Dark chocolate Rg</c:v>
                </c:pt>
                <c:pt idx="22">
                  <c:v>Earl Grey</c:v>
                </c:pt>
                <c:pt idx="23">
                  <c:v>Earl Grey Lg</c:v>
                </c:pt>
                <c:pt idx="24">
                  <c:v>Earl Grey Rg</c:v>
                </c:pt>
                <c:pt idx="25">
                  <c:v>English Breakfast</c:v>
                </c:pt>
                <c:pt idx="26">
                  <c:v>English Breakfast Lg</c:v>
                </c:pt>
                <c:pt idx="27">
                  <c:v>English Breakfast Rg</c:v>
                </c:pt>
                <c:pt idx="28">
                  <c:v>Espresso Roast</c:v>
                </c:pt>
                <c:pt idx="29">
                  <c:v>Espresso shot</c:v>
                </c:pt>
                <c:pt idx="30">
                  <c:v>Ethiopia</c:v>
                </c:pt>
                <c:pt idx="31">
                  <c:v>Ethiopia Lg</c:v>
                </c:pt>
                <c:pt idx="32">
                  <c:v>Ethiopia Rg</c:v>
                </c:pt>
                <c:pt idx="33">
                  <c:v>Ethiopia Sm</c:v>
                </c:pt>
                <c:pt idx="34">
                  <c:v>Ginger Biscotti</c:v>
                </c:pt>
                <c:pt idx="35">
                  <c:v>Ginger Scone</c:v>
                </c:pt>
                <c:pt idx="36">
                  <c:v>Guatemalan Sustainably Grown</c:v>
                </c:pt>
                <c:pt idx="37">
                  <c:v>Hazelnut Biscotti</c:v>
                </c:pt>
                <c:pt idx="38">
                  <c:v>Hazelnut syrup</c:v>
                </c:pt>
                <c:pt idx="39">
                  <c:v>I Need My Bean! Diner mug</c:v>
                </c:pt>
                <c:pt idx="40">
                  <c:v>I Need My Bean! Latte cup</c:v>
                </c:pt>
                <c:pt idx="41">
                  <c:v>I Need My Bean! T-shirt</c:v>
                </c:pt>
                <c:pt idx="42">
                  <c:v>Jamacian Coffee River</c:v>
                </c:pt>
                <c:pt idx="43">
                  <c:v>Jamaican Coffee River Lg</c:v>
                </c:pt>
                <c:pt idx="44">
                  <c:v>Jamaican Coffee River Rg</c:v>
                </c:pt>
                <c:pt idx="45">
                  <c:v>Jamaican Coffee River Sm</c:v>
                </c:pt>
                <c:pt idx="46">
                  <c:v>Jumbo Savory Scone</c:v>
                </c:pt>
                <c:pt idx="47">
                  <c:v>Latte</c:v>
                </c:pt>
                <c:pt idx="48">
                  <c:v>Latte Rg</c:v>
                </c:pt>
                <c:pt idx="49">
                  <c:v>Lemon Grass</c:v>
                </c:pt>
                <c:pt idx="50">
                  <c:v>Lemon Grass Lg</c:v>
                </c:pt>
                <c:pt idx="51">
                  <c:v>Lemon Grass Rg</c:v>
                </c:pt>
                <c:pt idx="52">
                  <c:v>Morning Sunrise Chai</c:v>
                </c:pt>
                <c:pt idx="53">
                  <c:v>Morning Sunrise Chai Lg</c:v>
                </c:pt>
                <c:pt idx="54">
                  <c:v>Morning Sunrise Chai Rg</c:v>
                </c:pt>
                <c:pt idx="55">
                  <c:v>Oatmeal Scone</c:v>
                </c:pt>
                <c:pt idx="56">
                  <c:v>Organic Decaf Blend</c:v>
                </c:pt>
                <c:pt idx="57">
                  <c:v>Our Old Time Diner Blend</c:v>
                </c:pt>
                <c:pt idx="58">
                  <c:v>Our Old Time Diner Blend Lg</c:v>
                </c:pt>
                <c:pt idx="59">
                  <c:v>Our Old Time Diner Blend Rg</c:v>
                </c:pt>
                <c:pt idx="60">
                  <c:v>Our Old Time Diner Blend Sm</c:v>
                </c:pt>
                <c:pt idx="61">
                  <c:v>Ouro Brasileiro shot</c:v>
                </c:pt>
                <c:pt idx="62">
                  <c:v>Peppermint</c:v>
                </c:pt>
                <c:pt idx="63">
                  <c:v>Peppermint Lg</c:v>
                </c:pt>
                <c:pt idx="64">
                  <c:v>Peppermint Rg</c:v>
                </c:pt>
                <c:pt idx="65">
                  <c:v>Primo Espresso Roast</c:v>
                </c:pt>
                <c:pt idx="66">
                  <c:v>Scottish Cream Scone</c:v>
                </c:pt>
                <c:pt idx="67">
                  <c:v>Serenity Green Tea</c:v>
                </c:pt>
                <c:pt idx="68">
                  <c:v>Serenity Green Tea Lg</c:v>
                </c:pt>
                <c:pt idx="69">
                  <c:v>Serenity Green Tea Rg</c:v>
                </c:pt>
                <c:pt idx="70">
                  <c:v>Spicy Eye Opener Chai</c:v>
                </c:pt>
                <c:pt idx="71">
                  <c:v>Spicy Eye Opener Chai Lg</c:v>
                </c:pt>
                <c:pt idx="72">
                  <c:v>Spicy Eye Opener Chai Rg</c:v>
                </c:pt>
                <c:pt idx="73">
                  <c:v>Sugar Free Vanilla syrup</c:v>
                </c:pt>
                <c:pt idx="74">
                  <c:v>Sustainably Grown Organic</c:v>
                </c:pt>
                <c:pt idx="75">
                  <c:v>Sustainably Grown Organic Lg</c:v>
                </c:pt>
                <c:pt idx="76">
                  <c:v>Sustainably Grown Organic Rg</c:v>
                </c:pt>
                <c:pt idx="77">
                  <c:v>Traditional Blend Chai</c:v>
                </c:pt>
                <c:pt idx="78">
                  <c:v>Traditional Blend Chai Lg</c:v>
                </c:pt>
                <c:pt idx="79">
                  <c:v>Traditional Blend Chai Rg</c:v>
                </c:pt>
              </c:strCache>
            </c:strRef>
          </c:cat>
          <c:val>
            <c:numRef>
              <c:f>'TOP PRODUCT PERFORMANCE'!$H$3:$H$83</c:f>
              <c:numCache>
                <c:formatCode>General</c:formatCode>
                <c:ptCount val="80"/>
                <c:pt idx="22">
                  <c:v>1270.9000000000021</c:v>
                </c:pt>
                <c:pt idx="25">
                  <c:v>1440.9500000000021</c:v>
                </c:pt>
                <c:pt idx="49">
                  <c:v>1360.4000000000012</c:v>
                </c:pt>
                <c:pt idx="52">
                  <c:v>1596</c:v>
                </c:pt>
                <c:pt idx="62">
                  <c:v>1369.3500000000017</c:v>
                </c:pt>
                <c:pt idx="67">
                  <c:v>1470.75</c:v>
                </c:pt>
                <c:pt idx="70">
                  <c:v>1335.9000000000024</c:v>
                </c:pt>
                <c:pt idx="77">
                  <c:v>1369.3500000000024</c:v>
                </c:pt>
              </c:numCache>
            </c:numRef>
          </c:val>
        </c:ser>
        <c:ser>
          <c:idx val="7"/>
          <c:order val="7"/>
          <c:tx>
            <c:strRef>
              <c:f>'TOP PRODUCT PERFORMANCE'!$I$1:$I$2</c:f>
              <c:strCache>
                <c:ptCount val="1"/>
                <c:pt idx="0">
                  <c:v>Packaged Chocolate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'TOP PRODUCT PERFORMANCE'!$A$3:$A$83</c:f>
              <c:strCache>
                <c:ptCount val="80"/>
                <c:pt idx="0">
                  <c:v>Almond Croissant</c:v>
                </c:pt>
                <c:pt idx="1">
                  <c:v>Brazilian - Organic</c:v>
                </c:pt>
                <c:pt idx="2">
                  <c:v>Brazilian Lg</c:v>
                </c:pt>
                <c:pt idx="3">
                  <c:v>Brazilian Rg</c:v>
                </c:pt>
                <c:pt idx="4">
                  <c:v>Brazilian Sm</c:v>
                </c:pt>
                <c:pt idx="5">
                  <c:v>Cappuccino</c:v>
                </c:pt>
                <c:pt idx="6">
                  <c:v>Cappuccino Lg</c:v>
                </c:pt>
                <c:pt idx="7">
                  <c:v>Carmel syrup</c:v>
                </c:pt>
                <c:pt idx="8">
                  <c:v>Chili Mayan</c:v>
                </c:pt>
                <c:pt idx="9">
                  <c:v>Chocolate Chip Biscotti</c:v>
                </c:pt>
                <c:pt idx="10">
                  <c:v>Chocolate Croissant</c:v>
                </c:pt>
                <c:pt idx="11">
                  <c:v>Chocolate syrup</c:v>
                </c:pt>
                <c:pt idx="12">
                  <c:v>Civet Cat</c:v>
                </c:pt>
                <c:pt idx="13">
                  <c:v>Columbian Medium Roast</c:v>
                </c:pt>
                <c:pt idx="14">
                  <c:v>Columbian Medium Roast Lg</c:v>
                </c:pt>
                <c:pt idx="15">
                  <c:v>Columbian Medium Roast Rg</c:v>
                </c:pt>
                <c:pt idx="16">
                  <c:v>Columbian Medium Roast Sm</c:v>
                </c:pt>
                <c:pt idx="17">
                  <c:v>Cranberry Scone</c:v>
                </c:pt>
                <c:pt idx="18">
                  <c:v>Croissant</c:v>
                </c:pt>
                <c:pt idx="19">
                  <c:v>Dark chocolate</c:v>
                </c:pt>
                <c:pt idx="20">
                  <c:v>Dark chocolate Lg</c:v>
                </c:pt>
                <c:pt idx="21">
                  <c:v>Dark chocolate Rg</c:v>
                </c:pt>
                <c:pt idx="22">
                  <c:v>Earl Grey</c:v>
                </c:pt>
                <c:pt idx="23">
                  <c:v>Earl Grey Lg</c:v>
                </c:pt>
                <c:pt idx="24">
                  <c:v>Earl Grey Rg</c:v>
                </c:pt>
                <c:pt idx="25">
                  <c:v>English Breakfast</c:v>
                </c:pt>
                <c:pt idx="26">
                  <c:v>English Breakfast Lg</c:v>
                </c:pt>
                <c:pt idx="27">
                  <c:v>English Breakfast Rg</c:v>
                </c:pt>
                <c:pt idx="28">
                  <c:v>Espresso Roast</c:v>
                </c:pt>
                <c:pt idx="29">
                  <c:v>Espresso shot</c:v>
                </c:pt>
                <c:pt idx="30">
                  <c:v>Ethiopia</c:v>
                </c:pt>
                <c:pt idx="31">
                  <c:v>Ethiopia Lg</c:v>
                </c:pt>
                <c:pt idx="32">
                  <c:v>Ethiopia Rg</c:v>
                </c:pt>
                <c:pt idx="33">
                  <c:v>Ethiopia Sm</c:v>
                </c:pt>
                <c:pt idx="34">
                  <c:v>Ginger Biscotti</c:v>
                </c:pt>
                <c:pt idx="35">
                  <c:v>Ginger Scone</c:v>
                </c:pt>
                <c:pt idx="36">
                  <c:v>Guatemalan Sustainably Grown</c:v>
                </c:pt>
                <c:pt idx="37">
                  <c:v>Hazelnut Biscotti</c:v>
                </c:pt>
                <c:pt idx="38">
                  <c:v>Hazelnut syrup</c:v>
                </c:pt>
                <c:pt idx="39">
                  <c:v>I Need My Bean! Diner mug</c:v>
                </c:pt>
                <c:pt idx="40">
                  <c:v>I Need My Bean! Latte cup</c:v>
                </c:pt>
                <c:pt idx="41">
                  <c:v>I Need My Bean! T-shirt</c:v>
                </c:pt>
                <c:pt idx="42">
                  <c:v>Jamacian Coffee River</c:v>
                </c:pt>
                <c:pt idx="43">
                  <c:v>Jamaican Coffee River Lg</c:v>
                </c:pt>
                <c:pt idx="44">
                  <c:v>Jamaican Coffee River Rg</c:v>
                </c:pt>
                <c:pt idx="45">
                  <c:v>Jamaican Coffee River Sm</c:v>
                </c:pt>
                <c:pt idx="46">
                  <c:v>Jumbo Savory Scone</c:v>
                </c:pt>
                <c:pt idx="47">
                  <c:v>Latte</c:v>
                </c:pt>
                <c:pt idx="48">
                  <c:v>Latte Rg</c:v>
                </c:pt>
                <c:pt idx="49">
                  <c:v>Lemon Grass</c:v>
                </c:pt>
                <c:pt idx="50">
                  <c:v>Lemon Grass Lg</c:v>
                </c:pt>
                <c:pt idx="51">
                  <c:v>Lemon Grass Rg</c:v>
                </c:pt>
                <c:pt idx="52">
                  <c:v>Morning Sunrise Chai</c:v>
                </c:pt>
                <c:pt idx="53">
                  <c:v>Morning Sunrise Chai Lg</c:v>
                </c:pt>
                <c:pt idx="54">
                  <c:v>Morning Sunrise Chai Rg</c:v>
                </c:pt>
                <c:pt idx="55">
                  <c:v>Oatmeal Scone</c:v>
                </c:pt>
                <c:pt idx="56">
                  <c:v>Organic Decaf Blend</c:v>
                </c:pt>
                <c:pt idx="57">
                  <c:v>Our Old Time Diner Blend</c:v>
                </c:pt>
                <c:pt idx="58">
                  <c:v>Our Old Time Diner Blend Lg</c:v>
                </c:pt>
                <c:pt idx="59">
                  <c:v>Our Old Time Diner Blend Rg</c:v>
                </c:pt>
                <c:pt idx="60">
                  <c:v>Our Old Time Diner Blend Sm</c:v>
                </c:pt>
                <c:pt idx="61">
                  <c:v>Ouro Brasileiro shot</c:v>
                </c:pt>
                <c:pt idx="62">
                  <c:v>Peppermint</c:v>
                </c:pt>
                <c:pt idx="63">
                  <c:v>Peppermint Lg</c:v>
                </c:pt>
                <c:pt idx="64">
                  <c:v>Peppermint Rg</c:v>
                </c:pt>
                <c:pt idx="65">
                  <c:v>Primo Espresso Roast</c:v>
                </c:pt>
                <c:pt idx="66">
                  <c:v>Scottish Cream Scone</c:v>
                </c:pt>
                <c:pt idx="67">
                  <c:v>Serenity Green Tea</c:v>
                </c:pt>
                <c:pt idx="68">
                  <c:v>Serenity Green Tea Lg</c:v>
                </c:pt>
                <c:pt idx="69">
                  <c:v>Serenity Green Tea Rg</c:v>
                </c:pt>
                <c:pt idx="70">
                  <c:v>Spicy Eye Opener Chai</c:v>
                </c:pt>
                <c:pt idx="71">
                  <c:v>Spicy Eye Opener Chai Lg</c:v>
                </c:pt>
                <c:pt idx="72">
                  <c:v>Spicy Eye Opener Chai Rg</c:v>
                </c:pt>
                <c:pt idx="73">
                  <c:v>Sugar Free Vanilla syrup</c:v>
                </c:pt>
                <c:pt idx="74">
                  <c:v>Sustainably Grown Organic</c:v>
                </c:pt>
                <c:pt idx="75">
                  <c:v>Sustainably Grown Organic Lg</c:v>
                </c:pt>
                <c:pt idx="76">
                  <c:v>Sustainably Grown Organic Rg</c:v>
                </c:pt>
                <c:pt idx="77">
                  <c:v>Traditional Blend Chai</c:v>
                </c:pt>
                <c:pt idx="78">
                  <c:v>Traditional Blend Chai Lg</c:v>
                </c:pt>
                <c:pt idx="79">
                  <c:v>Traditional Blend Chai Rg</c:v>
                </c:pt>
              </c:strCache>
            </c:strRef>
          </c:cat>
          <c:val>
            <c:numRef>
              <c:f>'TOP PRODUCT PERFORMANCE'!$I$3:$I$83</c:f>
              <c:numCache>
                <c:formatCode>General</c:formatCode>
                <c:ptCount val="80"/>
                <c:pt idx="8">
                  <c:v>1972.8399999999992</c:v>
                </c:pt>
                <c:pt idx="19">
                  <c:v>755.19999999999902</c:v>
                </c:pt>
                <c:pt idx="74">
                  <c:v>1679.5999999999981</c:v>
                </c:pt>
              </c:numCache>
            </c:numRef>
          </c:val>
        </c:ser>
        <c:ser>
          <c:idx val="8"/>
          <c:order val="8"/>
          <c:tx>
            <c:strRef>
              <c:f>'TOP PRODUCT PERFORMANCE'!$J$1:$J$2</c:f>
              <c:strCache>
                <c:ptCount val="1"/>
                <c:pt idx="0">
                  <c:v>Tea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'TOP PRODUCT PERFORMANCE'!$A$3:$A$83</c:f>
              <c:strCache>
                <c:ptCount val="80"/>
                <c:pt idx="0">
                  <c:v>Almond Croissant</c:v>
                </c:pt>
                <c:pt idx="1">
                  <c:v>Brazilian - Organic</c:v>
                </c:pt>
                <c:pt idx="2">
                  <c:v>Brazilian Lg</c:v>
                </c:pt>
                <c:pt idx="3">
                  <c:v>Brazilian Rg</c:v>
                </c:pt>
                <c:pt idx="4">
                  <c:v>Brazilian Sm</c:v>
                </c:pt>
                <c:pt idx="5">
                  <c:v>Cappuccino</c:v>
                </c:pt>
                <c:pt idx="6">
                  <c:v>Cappuccino Lg</c:v>
                </c:pt>
                <c:pt idx="7">
                  <c:v>Carmel syrup</c:v>
                </c:pt>
                <c:pt idx="8">
                  <c:v>Chili Mayan</c:v>
                </c:pt>
                <c:pt idx="9">
                  <c:v>Chocolate Chip Biscotti</c:v>
                </c:pt>
                <c:pt idx="10">
                  <c:v>Chocolate Croissant</c:v>
                </c:pt>
                <c:pt idx="11">
                  <c:v>Chocolate syrup</c:v>
                </c:pt>
                <c:pt idx="12">
                  <c:v>Civet Cat</c:v>
                </c:pt>
                <c:pt idx="13">
                  <c:v>Columbian Medium Roast</c:v>
                </c:pt>
                <c:pt idx="14">
                  <c:v>Columbian Medium Roast Lg</c:v>
                </c:pt>
                <c:pt idx="15">
                  <c:v>Columbian Medium Roast Rg</c:v>
                </c:pt>
                <c:pt idx="16">
                  <c:v>Columbian Medium Roast Sm</c:v>
                </c:pt>
                <c:pt idx="17">
                  <c:v>Cranberry Scone</c:v>
                </c:pt>
                <c:pt idx="18">
                  <c:v>Croissant</c:v>
                </c:pt>
                <c:pt idx="19">
                  <c:v>Dark chocolate</c:v>
                </c:pt>
                <c:pt idx="20">
                  <c:v>Dark chocolate Lg</c:v>
                </c:pt>
                <c:pt idx="21">
                  <c:v>Dark chocolate Rg</c:v>
                </c:pt>
                <c:pt idx="22">
                  <c:v>Earl Grey</c:v>
                </c:pt>
                <c:pt idx="23">
                  <c:v>Earl Grey Lg</c:v>
                </c:pt>
                <c:pt idx="24">
                  <c:v>Earl Grey Rg</c:v>
                </c:pt>
                <c:pt idx="25">
                  <c:v>English Breakfast</c:v>
                </c:pt>
                <c:pt idx="26">
                  <c:v>English Breakfast Lg</c:v>
                </c:pt>
                <c:pt idx="27">
                  <c:v>English Breakfast Rg</c:v>
                </c:pt>
                <c:pt idx="28">
                  <c:v>Espresso Roast</c:v>
                </c:pt>
                <c:pt idx="29">
                  <c:v>Espresso shot</c:v>
                </c:pt>
                <c:pt idx="30">
                  <c:v>Ethiopia</c:v>
                </c:pt>
                <c:pt idx="31">
                  <c:v>Ethiopia Lg</c:v>
                </c:pt>
                <c:pt idx="32">
                  <c:v>Ethiopia Rg</c:v>
                </c:pt>
                <c:pt idx="33">
                  <c:v>Ethiopia Sm</c:v>
                </c:pt>
                <c:pt idx="34">
                  <c:v>Ginger Biscotti</c:v>
                </c:pt>
                <c:pt idx="35">
                  <c:v>Ginger Scone</c:v>
                </c:pt>
                <c:pt idx="36">
                  <c:v>Guatemalan Sustainably Grown</c:v>
                </c:pt>
                <c:pt idx="37">
                  <c:v>Hazelnut Biscotti</c:v>
                </c:pt>
                <c:pt idx="38">
                  <c:v>Hazelnut syrup</c:v>
                </c:pt>
                <c:pt idx="39">
                  <c:v>I Need My Bean! Diner mug</c:v>
                </c:pt>
                <c:pt idx="40">
                  <c:v>I Need My Bean! Latte cup</c:v>
                </c:pt>
                <c:pt idx="41">
                  <c:v>I Need My Bean! T-shirt</c:v>
                </c:pt>
                <c:pt idx="42">
                  <c:v>Jamacian Coffee River</c:v>
                </c:pt>
                <c:pt idx="43">
                  <c:v>Jamaican Coffee River Lg</c:v>
                </c:pt>
                <c:pt idx="44">
                  <c:v>Jamaican Coffee River Rg</c:v>
                </c:pt>
                <c:pt idx="45">
                  <c:v>Jamaican Coffee River Sm</c:v>
                </c:pt>
                <c:pt idx="46">
                  <c:v>Jumbo Savory Scone</c:v>
                </c:pt>
                <c:pt idx="47">
                  <c:v>Latte</c:v>
                </c:pt>
                <c:pt idx="48">
                  <c:v>Latte Rg</c:v>
                </c:pt>
                <c:pt idx="49">
                  <c:v>Lemon Grass</c:v>
                </c:pt>
                <c:pt idx="50">
                  <c:v>Lemon Grass Lg</c:v>
                </c:pt>
                <c:pt idx="51">
                  <c:v>Lemon Grass Rg</c:v>
                </c:pt>
                <c:pt idx="52">
                  <c:v>Morning Sunrise Chai</c:v>
                </c:pt>
                <c:pt idx="53">
                  <c:v>Morning Sunrise Chai Lg</c:v>
                </c:pt>
                <c:pt idx="54">
                  <c:v>Morning Sunrise Chai Rg</c:v>
                </c:pt>
                <c:pt idx="55">
                  <c:v>Oatmeal Scone</c:v>
                </c:pt>
                <c:pt idx="56">
                  <c:v>Organic Decaf Blend</c:v>
                </c:pt>
                <c:pt idx="57">
                  <c:v>Our Old Time Diner Blend</c:v>
                </c:pt>
                <c:pt idx="58">
                  <c:v>Our Old Time Diner Blend Lg</c:v>
                </c:pt>
                <c:pt idx="59">
                  <c:v>Our Old Time Diner Blend Rg</c:v>
                </c:pt>
                <c:pt idx="60">
                  <c:v>Our Old Time Diner Blend Sm</c:v>
                </c:pt>
                <c:pt idx="61">
                  <c:v>Ouro Brasileiro shot</c:v>
                </c:pt>
                <c:pt idx="62">
                  <c:v>Peppermint</c:v>
                </c:pt>
                <c:pt idx="63">
                  <c:v>Peppermint Lg</c:v>
                </c:pt>
                <c:pt idx="64">
                  <c:v>Peppermint Rg</c:v>
                </c:pt>
                <c:pt idx="65">
                  <c:v>Primo Espresso Roast</c:v>
                </c:pt>
                <c:pt idx="66">
                  <c:v>Scottish Cream Scone</c:v>
                </c:pt>
                <c:pt idx="67">
                  <c:v>Serenity Green Tea</c:v>
                </c:pt>
                <c:pt idx="68">
                  <c:v>Serenity Green Tea Lg</c:v>
                </c:pt>
                <c:pt idx="69">
                  <c:v>Serenity Green Tea Rg</c:v>
                </c:pt>
                <c:pt idx="70">
                  <c:v>Spicy Eye Opener Chai</c:v>
                </c:pt>
                <c:pt idx="71">
                  <c:v>Spicy Eye Opener Chai Lg</c:v>
                </c:pt>
                <c:pt idx="72">
                  <c:v>Spicy Eye Opener Chai Rg</c:v>
                </c:pt>
                <c:pt idx="73">
                  <c:v>Sugar Free Vanilla syrup</c:v>
                </c:pt>
                <c:pt idx="74">
                  <c:v>Sustainably Grown Organic</c:v>
                </c:pt>
                <c:pt idx="75">
                  <c:v>Sustainably Grown Organic Lg</c:v>
                </c:pt>
                <c:pt idx="76">
                  <c:v>Sustainably Grown Organic Rg</c:v>
                </c:pt>
                <c:pt idx="77">
                  <c:v>Traditional Blend Chai</c:v>
                </c:pt>
                <c:pt idx="78">
                  <c:v>Traditional Blend Chai Lg</c:v>
                </c:pt>
                <c:pt idx="79">
                  <c:v>Traditional Blend Chai Rg</c:v>
                </c:pt>
              </c:strCache>
            </c:strRef>
          </c:cat>
          <c:val>
            <c:numRef>
              <c:f>'TOP PRODUCT PERFORMANCE'!$J$3:$J$83</c:f>
              <c:numCache>
                <c:formatCode>General</c:formatCode>
                <c:ptCount val="80"/>
                <c:pt idx="23">
                  <c:v>12735</c:v>
                </c:pt>
                <c:pt idx="24">
                  <c:v>11770</c:v>
                </c:pt>
                <c:pt idx="26">
                  <c:v>12927</c:v>
                </c:pt>
                <c:pt idx="27">
                  <c:v>10500</c:v>
                </c:pt>
                <c:pt idx="50">
                  <c:v>12267</c:v>
                </c:pt>
                <c:pt idx="51">
                  <c:v>10812.5</c:v>
                </c:pt>
                <c:pt idx="53">
                  <c:v>17384</c:v>
                </c:pt>
                <c:pt idx="54">
                  <c:v>11607.5</c:v>
                </c:pt>
                <c:pt idx="63">
                  <c:v>13050</c:v>
                </c:pt>
                <c:pt idx="64">
                  <c:v>11410</c:v>
                </c:pt>
                <c:pt idx="68">
                  <c:v>12660</c:v>
                </c:pt>
                <c:pt idx="69">
                  <c:v>11192.5</c:v>
                </c:pt>
                <c:pt idx="71">
                  <c:v>13652.400000000016</c:v>
                </c:pt>
                <c:pt idx="72">
                  <c:v>10636.050000000003</c:v>
                </c:pt>
                <c:pt idx="78">
                  <c:v>12522</c:v>
                </c:pt>
                <c:pt idx="79">
                  <c:v>11280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0359104"/>
        <c:axId val="230365088"/>
      </c:barChart>
      <c:catAx>
        <c:axId val="23035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0365088"/>
        <c:crosses val="autoZero"/>
        <c:auto val="1"/>
        <c:lblAlgn val="ctr"/>
        <c:lblOffset val="100"/>
        <c:noMultiLvlLbl val="0"/>
      </c:catAx>
      <c:valAx>
        <c:axId val="23036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0359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[BRIGHT_COFFEE_CASE_STUDY (2).xlsx]SALES PERFORMANCE BY TIME!PivotTable2</c:name>
    <c:fmtId val="4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/>
              <a:t>SALES PERFORMANCE BY TIME OF DAY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'SALES PERFORMANCE BY TIME'!$B$3:$B$4</c:f>
              <c:strCache>
                <c:ptCount val="1"/>
                <c:pt idx="0">
                  <c:v>Bakery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'SALES PERFORMANCE BY TIME'!$A$5:$A$8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'SALES PERFORMANCE BY TIME'!$B$5:$B$8</c:f>
              <c:numCache>
                <c:formatCode>General</c:formatCode>
                <c:ptCount val="3"/>
                <c:pt idx="0">
                  <c:v>22743.100000000002</c:v>
                </c:pt>
                <c:pt idx="1">
                  <c:v>11409.839999999997</c:v>
                </c:pt>
                <c:pt idx="2">
                  <c:v>48162.700000000004</c:v>
                </c:pt>
              </c:numCache>
            </c:numRef>
          </c:val>
        </c:ser>
        <c:ser>
          <c:idx val="1"/>
          <c:order val="1"/>
          <c:tx>
            <c:strRef>
              <c:f>'SALES PERFORMANCE BY TIME'!$C$3:$C$4</c:f>
              <c:strCache>
                <c:ptCount val="1"/>
                <c:pt idx="0">
                  <c:v>Branded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'SALES PERFORMANCE BY TIME'!$A$5:$A$8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'SALES PERFORMANCE BY TIME'!$C$5:$C$8</c:f>
              <c:numCache>
                <c:formatCode>General</c:formatCode>
                <c:ptCount val="3"/>
                <c:pt idx="0">
                  <c:v>3369</c:v>
                </c:pt>
                <c:pt idx="1">
                  <c:v>1668</c:v>
                </c:pt>
                <c:pt idx="2">
                  <c:v>8570</c:v>
                </c:pt>
              </c:numCache>
            </c:numRef>
          </c:val>
        </c:ser>
        <c:ser>
          <c:idx val="2"/>
          <c:order val="2"/>
          <c:tx>
            <c:strRef>
              <c:f>'SALES PERFORMANCE BY TIME'!$D$3:$D$4</c:f>
              <c:strCache>
                <c:ptCount val="1"/>
                <c:pt idx="0">
                  <c:v>Coffee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'SALES PERFORMANCE BY TIME'!$A$5:$A$8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'SALES PERFORMANCE BY TIME'!$D$5:$D$8</c:f>
              <c:numCache>
                <c:formatCode>General</c:formatCode>
                <c:ptCount val="3"/>
                <c:pt idx="0">
                  <c:v>83107.799999999901</c:v>
                </c:pt>
                <c:pt idx="1">
                  <c:v>42372.850000000035</c:v>
                </c:pt>
                <c:pt idx="2">
                  <c:v>144471.79999999976</c:v>
                </c:pt>
              </c:numCache>
            </c:numRef>
          </c:val>
        </c:ser>
        <c:ser>
          <c:idx val="3"/>
          <c:order val="3"/>
          <c:tx>
            <c:strRef>
              <c:f>'SALES PERFORMANCE BY TIME'!$E$3:$E$4</c:f>
              <c:strCache>
                <c:ptCount val="1"/>
                <c:pt idx="0">
                  <c:v>Coffee beans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'SALES PERFORMANCE BY TIME'!$A$5:$A$8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'SALES PERFORMANCE BY TIME'!$E$5:$E$8</c:f>
              <c:numCache>
                <c:formatCode>General</c:formatCode>
                <c:ptCount val="3"/>
                <c:pt idx="0">
                  <c:v>7880.699999999998</c:v>
                </c:pt>
                <c:pt idx="1">
                  <c:v>4025.9999999999991</c:v>
                </c:pt>
                <c:pt idx="2">
                  <c:v>28178.550000000032</c:v>
                </c:pt>
              </c:numCache>
            </c:numRef>
          </c:val>
        </c:ser>
        <c:ser>
          <c:idx val="4"/>
          <c:order val="4"/>
          <c:tx>
            <c:strRef>
              <c:f>'SALES PERFORMANCE BY TIME'!$F$3:$F$4</c:f>
              <c:strCache>
                <c:ptCount val="1"/>
                <c:pt idx="0">
                  <c:v>Drinking Chocolate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'SALES PERFORMANCE BY TIME'!$A$5:$A$8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'SALES PERFORMANCE BY TIME'!$F$5:$F$8</c:f>
              <c:numCache>
                <c:formatCode>General</c:formatCode>
                <c:ptCount val="3"/>
                <c:pt idx="0">
                  <c:v>22320</c:v>
                </c:pt>
                <c:pt idx="1">
                  <c:v>11940.5</c:v>
                </c:pt>
                <c:pt idx="2">
                  <c:v>38155.5</c:v>
                </c:pt>
              </c:numCache>
            </c:numRef>
          </c:val>
        </c:ser>
        <c:ser>
          <c:idx val="5"/>
          <c:order val="5"/>
          <c:tx>
            <c:strRef>
              <c:f>'SALES PERFORMANCE BY TIME'!$G$3:$G$4</c:f>
              <c:strCache>
                <c:ptCount val="1"/>
                <c:pt idx="0">
                  <c:v>Flavours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'SALES PERFORMANCE BY TIME'!$A$5:$A$8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'SALES PERFORMANCE BY TIME'!$G$5:$G$8</c:f>
              <c:numCache>
                <c:formatCode>General</c:formatCode>
                <c:ptCount val="3"/>
                <c:pt idx="0">
                  <c:v>1735.9999999999964</c:v>
                </c:pt>
                <c:pt idx="1">
                  <c:v>896.00000000000045</c:v>
                </c:pt>
                <c:pt idx="2">
                  <c:v>5776.800000000002</c:v>
                </c:pt>
              </c:numCache>
            </c:numRef>
          </c:val>
        </c:ser>
        <c:ser>
          <c:idx val="6"/>
          <c:order val="6"/>
          <c:tx>
            <c:strRef>
              <c:f>'SALES PERFORMANCE BY TIME'!$H$3:$H$4</c:f>
              <c:strCache>
                <c:ptCount val="1"/>
                <c:pt idx="0">
                  <c:v>Loose Tea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'SALES PERFORMANCE BY TIME'!$A$5:$A$8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'SALES PERFORMANCE BY TIME'!$H$5:$H$8</c:f>
              <c:numCache>
                <c:formatCode>General</c:formatCode>
                <c:ptCount val="3"/>
                <c:pt idx="0">
                  <c:v>2424.9500000000016</c:v>
                </c:pt>
                <c:pt idx="1">
                  <c:v>1402.7500000000027</c:v>
                </c:pt>
                <c:pt idx="2">
                  <c:v>7385.8999999999469</c:v>
                </c:pt>
              </c:numCache>
            </c:numRef>
          </c:val>
        </c:ser>
        <c:ser>
          <c:idx val="7"/>
          <c:order val="7"/>
          <c:tx>
            <c:strRef>
              <c:f>'SALES PERFORMANCE BY TIME'!$I$3:$I$4</c:f>
              <c:strCache>
                <c:ptCount val="1"/>
                <c:pt idx="0">
                  <c:v>Packaged Chocolate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'SALES PERFORMANCE BY TIME'!$A$5:$A$8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'SALES PERFORMANCE BY TIME'!$I$5:$I$8</c:f>
              <c:numCache>
                <c:formatCode>General</c:formatCode>
                <c:ptCount val="3"/>
                <c:pt idx="0">
                  <c:v>928.18000000000109</c:v>
                </c:pt>
                <c:pt idx="1">
                  <c:v>502.49000000000007</c:v>
                </c:pt>
                <c:pt idx="2">
                  <c:v>2976.969999999993</c:v>
                </c:pt>
              </c:numCache>
            </c:numRef>
          </c:val>
        </c:ser>
        <c:ser>
          <c:idx val="8"/>
          <c:order val="8"/>
          <c:tx>
            <c:strRef>
              <c:f>'SALES PERFORMANCE BY TIME'!$J$3:$J$4</c:f>
              <c:strCache>
                <c:ptCount val="1"/>
                <c:pt idx="0">
                  <c:v>Tea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'SALES PERFORMANCE BY TIME'!$A$5:$A$8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'SALES PERFORMANCE BY TIME'!$J$5:$J$8</c:f>
              <c:numCache>
                <c:formatCode>General</c:formatCode>
                <c:ptCount val="3"/>
                <c:pt idx="0">
                  <c:v>60211.09999999986</c:v>
                </c:pt>
                <c:pt idx="1">
                  <c:v>31584.39999999994</c:v>
                </c:pt>
                <c:pt idx="2">
                  <c:v>104610.45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773979056"/>
        <c:axId val="773979600"/>
      </c:barChart>
      <c:catAx>
        <c:axId val="7739790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979600"/>
        <c:crosses val="autoZero"/>
        <c:auto val="1"/>
        <c:lblAlgn val="ctr"/>
        <c:lblOffset val="100"/>
        <c:noMultiLvlLbl val="0"/>
      </c:catAx>
      <c:valAx>
        <c:axId val="7739796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979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382521013987173"/>
          <c:y val="0.3077879848352289"/>
          <c:w val="0.12621988090386865"/>
          <c:h val="0.536019612131816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F866C9-4A03-4AD4-8E51-2BAE1EB6D17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C2E38C-B9EA-4AC4-87C3-18C259F940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500" b="1" noProof="0" dirty="0" smtClean="0"/>
            <a:t>ABOUT US</a:t>
          </a:r>
          <a:endParaRPr lang="en-US" sz="2500" b="1" noProof="0" dirty="0"/>
        </a:p>
      </dgm:t>
    </dgm:pt>
    <dgm:pt modelId="{56633E21-2D4F-4D35-A163-AA05ACDE458F}" type="parTrans" cxnId="{34B04A36-AFEA-4CD1-A11B-8FBE8A73338B}">
      <dgm:prSet/>
      <dgm:spPr/>
      <dgm:t>
        <a:bodyPr/>
        <a:lstStyle/>
        <a:p>
          <a:endParaRPr lang="en-US" sz="2100" noProof="0" dirty="0"/>
        </a:p>
      </dgm:t>
    </dgm:pt>
    <dgm:pt modelId="{257D8D46-D708-441A-9A94-08C16FB98397}" type="sibTrans" cxnId="{34B04A36-AFEA-4CD1-A11B-8FBE8A73338B}">
      <dgm:prSet/>
      <dgm:spPr/>
      <dgm:t>
        <a:bodyPr/>
        <a:lstStyle/>
        <a:p>
          <a:endParaRPr lang="en-US" noProof="0"/>
        </a:p>
      </dgm:t>
    </dgm:pt>
    <dgm:pt modelId="{6C7ABDD8-2116-4572-BFF1-942DE135219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500" b="1" noProof="0" dirty="0" smtClean="0"/>
            <a:t>ANALYSIS</a:t>
          </a:r>
          <a:endParaRPr lang="en-US" sz="2500" b="1" noProof="0" dirty="0"/>
        </a:p>
      </dgm:t>
    </dgm:pt>
    <dgm:pt modelId="{616469A4-BE2A-4C29-8A52-AB6BAF651012}" type="parTrans" cxnId="{0675954C-3CB5-402E-8880-DDA68CDDB758}">
      <dgm:prSet/>
      <dgm:spPr/>
      <dgm:t>
        <a:bodyPr/>
        <a:lstStyle/>
        <a:p>
          <a:endParaRPr lang="en-US" sz="2100" noProof="0" dirty="0"/>
        </a:p>
      </dgm:t>
    </dgm:pt>
    <dgm:pt modelId="{59BC6248-0FAC-49D0-8357-FB965100BBEE}" type="sibTrans" cxnId="{0675954C-3CB5-402E-8880-DDA68CDDB758}">
      <dgm:prSet/>
      <dgm:spPr/>
      <dgm:t>
        <a:bodyPr/>
        <a:lstStyle/>
        <a:p>
          <a:endParaRPr lang="en-US" noProof="0"/>
        </a:p>
      </dgm:t>
    </dgm:pt>
    <dgm:pt modelId="{44509D9E-58EE-4039-82A1-2A79116ACC9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500" b="1" noProof="0" dirty="0" smtClean="0"/>
            <a:t>RECOMMENDATIONS</a:t>
          </a:r>
          <a:endParaRPr lang="en-US" sz="2500" b="1" noProof="0" dirty="0"/>
        </a:p>
      </dgm:t>
    </dgm:pt>
    <dgm:pt modelId="{5C426BE0-998E-4D28-8838-1C847BD83830}" type="parTrans" cxnId="{E0D91B55-A7CF-4FF4-B08D-DBE20AF8C2FE}">
      <dgm:prSet/>
      <dgm:spPr/>
      <dgm:t>
        <a:bodyPr/>
        <a:lstStyle/>
        <a:p>
          <a:endParaRPr lang="en-US" sz="2100" noProof="0" dirty="0"/>
        </a:p>
      </dgm:t>
    </dgm:pt>
    <dgm:pt modelId="{35B7AB1F-21FF-4FAC-BC26-4D944FC0050D}" type="sibTrans" cxnId="{E0D91B55-A7CF-4FF4-B08D-DBE20AF8C2FE}">
      <dgm:prSet/>
      <dgm:spPr/>
      <dgm:t>
        <a:bodyPr/>
        <a:lstStyle/>
        <a:p>
          <a:endParaRPr lang="en-US" noProof="0"/>
        </a:p>
      </dgm:t>
    </dgm:pt>
    <dgm:pt modelId="{731CB9B8-9C9E-4777-B5E5-0C650C1CF671}" type="pres">
      <dgm:prSet presAssocID="{1AF866C9-4A03-4AD4-8E51-2BAE1EB6D17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ZA"/>
        </a:p>
      </dgm:t>
    </dgm:pt>
    <dgm:pt modelId="{0F838767-051F-4A41-B5BD-34FB3C75F12B}" type="pres">
      <dgm:prSet presAssocID="{BEC2E38C-B9EA-4AC4-87C3-18C259F9401A}" presName="compNode" presStyleCnt="0"/>
      <dgm:spPr/>
    </dgm:pt>
    <dgm:pt modelId="{5A075809-8C75-4E04-803F-AFF163039B65}" type="pres">
      <dgm:prSet presAssocID="{BEC2E38C-B9EA-4AC4-87C3-18C259F9401A}" presName="iconRect" presStyleLbl="node1" presStyleIdx="0" presStyleCnt="3" custScaleX="156057" custScaleY="105816"/>
      <dgm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endParaRPr lang="en-ZA"/>
        </a:p>
      </dgm:t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1FEAC64-1B83-4E3A-AA87-4304788BDB55}" type="pres">
      <dgm:prSet presAssocID="{BEC2E38C-B9EA-4AC4-87C3-18C259F9401A}" presName="spaceRect" presStyleCnt="0"/>
      <dgm:spPr/>
    </dgm:pt>
    <dgm:pt modelId="{E15304F6-1159-42A1-9C34-3730AFDDA2CD}" type="pres">
      <dgm:prSet presAssocID="{BEC2E38C-B9EA-4AC4-87C3-18C259F9401A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ZA"/>
        </a:p>
      </dgm:t>
    </dgm:pt>
    <dgm:pt modelId="{5EF07DF1-4052-44A1-A0AF-0A363D6B0630}" type="pres">
      <dgm:prSet presAssocID="{257D8D46-D708-441A-9A94-08C16FB98397}" presName="sibTrans" presStyleCnt="0"/>
      <dgm:spPr/>
    </dgm:pt>
    <dgm:pt modelId="{076BEFD0-E9ED-4E7F-9673-6E011B5A08E2}" type="pres">
      <dgm:prSet presAssocID="{6C7ABDD8-2116-4572-BFF1-942DE135219B}" presName="compNode" presStyleCnt="0"/>
      <dgm:spPr/>
    </dgm:pt>
    <dgm:pt modelId="{149365D4-02F1-45AD-91FD-EDDC4F0E9A67}" type="pres">
      <dgm:prSet presAssocID="{6C7ABDD8-2116-4572-BFF1-942DE135219B}" presName="iconRect" presStyleLbl="node1" presStyleIdx="1" presStyleCnt="3" custScaleX="165829" custScaleY="110152" custLinFactNeighborX="1520" custLinFactNeighborY="-2280"/>
      <dgm:spPr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</dgm:spPr>
      <dgm:t>
        <a:bodyPr/>
        <a:lstStyle/>
        <a:p>
          <a:endParaRPr lang="en-ZA"/>
        </a:p>
      </dgm:t>
      <dgm:extLst/>
    </dgm:pt>
    <dgm:pt modelId="{447A0DDA-36E4-40AA-925D-E48F6CE3CB04}" type="pres">
      <dgm:prSet presAssocID="{6C7ABDD8-2116-4572-BFF1-942DE135219B}" presName="spaceRect" presStyleCnt="0"/>
      <dgm:spPr/>
    </dgm:pt>
    <dgm:pt modelId="{4BFFB028-C0D7-44EE-803C-2FE7CB0A5632}" type="pres">
      <dgm:prSet presAssocID="{6C7ABDD8-2116-4572-BFF1-942DE135219B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ZA"/>
        </a:p>
      </dgm:t>
    </dgm:pt>
    <dgm:pt modelId="{BD707A12-FF25-4CE0-97F9-4B4B6BAF0972}" type="pres">
      <dgm:prSet presAssocID="{59BC6248-0FAC-49D0-8357-FB965100BBEE}" presName="sibTrans" presStyleCnt="0"/>
      <dgm:spPr/>
    </dgm:pt>
    <dgm:pt modelId="{5CC278AE-9618-4F63-A36B-DABFF003969D}" type="pres">
      <dgm:prSet presAssocID="{44509D9E-58EE-4039-82A1-2A79116ACC93}" presName="compNode" presStyleCnt="0"/>
      <dgm:spPr/>
    </dgm:pt>
    <dgm:pt modelId="{72D006BC-B9B3-458C-9768-07D20D6CD37A}" type="pres">
      <dgm:prSet presAssocID="{44509D9E-58EE-4039-82A1-2A79116ACC93}" presName="iconRect" presStyleLbl="node1" presStyleIdx="2" presStyleCnt="3" custScaleX="157276" custScaleY="106812"/>
      <dgm:spPr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</dgm:spPr>
      <dgm:t>
        <a:bodyPr/>
        <a:lstStyle/>
        <a:p>
          <a:endParaRPr lang="en-ZA"/>
        </a:p>
      </dgm:t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1CA841E-18DE-4CC2-894E-42813BF3A61C}" type="pres">
      <dgm:prSet presAssocID="{44509D9E-58EE-4039-82A1-2A79116ACC93}" presName="spaceRect" presStyleCnt="0"/>
      <dgm:spPr/>
    </dgm:pt>
    <dgm:pt modelId="{7A8D41E0-D064-4F64-B2E2-37349575417C}" type="pres">
      <dgm:prSet presAssocID="{44509D9E-58EE-4039-82A1-2A79116ACC93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ZA"/>
        </a:p>
      </dgm:t>
    </dgm:pt>
  </dgm:ptLst>
  <dgm:cxnLst>
    <dgm:cxn modelId="{72D9BD25-E96B-4410-A062-9484C5CE02DA}" type="presOf" srcId="{1AF866C9-4A03-4AD4-8E51-2BAE1EB6D173}" destId="{731CB9B8-9C9E-4777-B5E5-0C650C1CF671}" srcOrd="0" destOrd="0" presId="urn:microsoft.com/office/officeart/2018/2/layout/IconLabelList"/>
    <dgm:cxn modelId="{E0D91B55-A7CF-4FF4-B08D-DBE20AF8C2FE}" srcId="{1AF866C9-4A03-4AD4-8E51-2BAE1EB6D173}" destId="{44509D9E-58EE-4039-82A1-2A79116ACC93}" srcOrd="2" destOrd="0" parTransId="{5C426BE0-998E-4D28-8838-1C847BD83830}" sibTransId="{35B7AB1F-21FF-4FAC-BC26-4D944FC0050D}"/>
    <dgm:cxn modelId="{27509A94-55FC-46A0-A9A6-A22BC85E8597}" type="presOf" srcId="{6C7ABDD8-2116-4572-BFF1-942DE135219B}" destId="{4BFFB028-C0D7-44EE-803C-2FE7CB0A5632}" srcOrd="0" destOrd="0" presId="urn:microsoft.com/office/officeart/2018/2/layout/IconLabelList"/>
    <dgm:cxn modelId="{34B04A36-AFEA-4CD1-A11B-8FBE8A73338B}" srcId="{1AF866C9-4A03-4AD4-8E51-2BAE1EB6D173}" destId="{BEC2E38C-B9EA-4AC4-87C3-18C259F9401A}" srcOrd="0" destOrd="0" parTransId="{56633E21-2D4F-4D35-A163-AA05ACDE458F}" sibTransId="{257D8D46-D708-441A-9A94-08C16FB98397}"/>
    <dgm:cxn modelId="{0675954C-3CB5-402E-8880-DDA68CDDB758}" srcId="{1AF866C9-4A03-4AD4-8E51-2BAE1EB6D173}" destId="{6C7ABDD8-2116-4572-BFF1-942DE135219B}" srcOrd="1" destOrd="0" parTransId="{616469A4-BE2A-4C29-8A52-AB6BAF651012}" sibTransId="{59BC6248-0FAC-49D0-8357-FB965100BBEE}"/>
    <dgm:cxn modelId="{2FC20AD0-E211-4DAB-A7E2-76FB18A84C4C}" type="presOf" srcId="{BEC2E38C-B9EA-4AC4-87C3-18C259F9401A}" destId="{E15304F6-1159-42A1-9C34-3730AFDDA2CD}" srcOrd="0" destOrd="0" presId="urn:microsoft.com/office/officeart/2018/2/layout/IconLabelList"/>
    <dgm:cxn modelId="{5A02ECB6-7367-493F-9D45-440E8F6BA283}" type="presOf" srcId="{44509D9E-58EE-4039-82A1-2A79116ACC93}" destId="{7A8D41E0-D064-4F64-B2E2-37349575417C}" srcOrd="0" destOrd="0" presId="urn:microsoft.com/office/officeart/2018/2/layout/IconLabelList"/>
    <dgm:cxn modelId="{1DAC79F4-86A2-4FF2-973C-E58AD2F0F8A9}" type="presParOf" srcId="{731CB9B8-9C9E-4777-B5E5-0C650C1CF671}" destId="{0F838767-051F-4A41-B5BD-34FB3C75F12B}" srcOrd="0" destOrd="0" presId="urn:microsoft.com/office/officeart/2018/2/layout/IconLabelList"/>
    <dgm:cxn modelId="{C7E8690E-516D-4499-BDF5-191A25F02037}" type="presParOf" srcId="{0F838767-051F-4A41-B5BD-34FB3C75F12B}" destId="{5A075809-8C75-4E04-803F-AFF163039B65}" srcOrd="0" destOrd="0" presId="urn:microsoft.com/office/officeart/2018/2/layout/IconLabelList"/>
    <dgm:cxn modelId="{9A5CBF75-80AD-4A7D-97A2-4D65DA7FC8AD}" type="presParOf" srcId="{0F838767-051F-4A41-B5BD-34FB3C75F12B}" destId="{61FEAC64-1B83-4E3A-AA87-4304788BDB55}" srcOrd="1" destOrd="0" presId="urn:microsoft.com/office/officeart/2018/2/layout/IconLabelList"/>
    <dgm:cxn modelId="{5E64FA2A-8C48-4725-82DB-EBF6A2443D54}" type="presParOf" srcId="{0F838767-051F-4A41-B5BD-34FB3C75F12B}" destId="{E15304F6-1159-42A1-9C34-3730AFDDA2CD}" srcOrd="2" destOrd="0" presId="urn:microsoft.com/office/officeart/2018/2/layout/IconLabelList"/>
    <dgm:cxn modelId="{BE88A013-45F8-4A54-AB05-45FD35ADC38F}" type="presParOf" srcId="{731CB9B8-9C9E-4777-B5E5-0C650C1CF671}" destId="{5EF07DF1-4052-44A1-A0AF-0A363D6B0630}" srcOrd="1" destOrd="0" presId="urn:microsoft.com/office/officeart/2018/2/layout/IconLabelList"/>
    <dgm:cxn modelId="{9AC2D573-1C38-45BC-8067-16F43F77C5C0}" type="presParOf" srcId="{731CB9B8-9C9E-4777-B5E5-0C650C1CF671}" destId="{076BEFD0-E9ED-4E7F-9673-6E011B5A08E2}" srcOrd="2" destOrd="0" presId="urn:microsoft.com/office/officeart/2018/2/layout/IconLabelList"/>
    <dgm:cxn modelId="{B194EC7C-050A-4B04-A866-3DAB87F9E173}" type="presParOf" srcId="{076BEFD0-E9ED-4E7F-9673-6E011B5A08E2}" destId="{149365D4-02F1-45AD-91FD-EDDC4F0E9A67}" srcOrd="0" destOrd="0" presId="urn:microsoft.com/office/officeart/2018/2/layout/IconLabelList"/>
    <dgm:cxn modelId="{33789C51-F098-4835-AC2F-FAF87397EF84}" type="presParOf" srcId="{076BEFD0-E9ED-4E7F-9673-6E011B5A08E2}" destId="{447A0DDA-36E4-40AA-925D-E48F6CE3CB04}" srcOrd="1" destOrd="0" presId="urn:microsoft.com/office/officeart/2018/2/layout/IconLabelList"/>
    <dgm:cxn modelId="{255FDD29-5710-4FC9-863C-C220C7442AE7}" type="presParOf" srcId="{076BEFD0-E9ED-4E7F-9673-6E011B5A08E2}" destId="{4BFFB028-C0D7-44EE-803C-2FE7CB0A5632}" srcOrd="2" destOrd="0" presId="urn:microsoft.com/office/officeart/2018/2/layout/IconLabelList"/>
    <dgm:cxn modelId="{731028BA-21F4-4D07-8496-65CB56591CE5}" type="presParOf" srcId="{731CB9B8-9C9E-4777-B5E5-0C650C1CF671}" destId="{BD707A12-FF25-4CE0-97F9-4B4B6BAF0972}" srcOrd="3" destOrd="0" presId="urn:microsoft.com/office/officeart/2018/2/layout/IconLabelList"/>
    <dgm:cxn modelId="{154AD7BE-B962-4212-9F3B-E5F9DB8DDE7D}" type="presParOf" srcId="{731CB9B8-9C9E-4777-B5E5-0C650C1CF671}" destId="{5CC278AE-9618-4F63-A36B-DABFF003969D}" srcOrd="4" destOrd="0" presId="urn:microsoft.com/office/officeart/2018/2/layout/IconLabelList"/>
    <dgm:cxn modelId="{4E79B4FC-C1F5-4F20-9EF8-4F94FD2D8A6D}" type="presParOf" srcId="{5CC278AE-9618-4F63-A36B-DABFF003969D}" destId="{72D006BC-B9B3-458C-9768-07D20D6CD37A}" srcOrd="0" destOrd="0" presId="urn:microsoft.com/office/officeart/2018/2/layout/IconLabelList"/>
    <dgm:cxn modelId="{A5C54848-9E78-49FD-9EF1-C095038B5AD4}" type="presParOf" srcId="{5CC278AE-9618-4F63-A36B-DABFF003969D}" destId="{E1CA841E-18DE-4CC2-894E-42813BF3A61C}" srcOrd="1" destOrd="0" presId="urn:microsoft.com/office/officeart/2018/2/layout/IconLabelList"/>
    <dgm:cxn modelId="{7E8EA5BF-02CC-41C2-A7CF-B153778365B6}" type="presParOf" srcId="{5CC278AE-9618-4F63-A36B-DABFF003969D}" destId="{7A8D41E0-D064-4F64-B2E2-3734957541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75809-8C75-4E04-803F-AFF163039B65}">
      <dsp:nvSpPr>
        <dsp:cNvPr id="0" name=""/>
        <dsp:cNvSpPr/>
      </dsp:nvSpPr>
      <dsp:spPr>
        <a:xfrm>
          <a:off x="532116" y="380207"/>
          <a:ext cx="2262209" cy="1533913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304F6-1159-42A1-9C34-3730AFDDA2CD}">
      <dsp:nvSpPr>
        <dsp:cNvPr id="0" name=""/>
        <dsp:cNvSpPr/>
      </dsp:nvSpPr>
      <dsp:spPr>
        <a:xfrm>
          <a:off x="52549" y="2254922"/>
          <a:ext cx="32213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noProof="0" dirty="0" smtClean="0"/>
            <a:t>ABOUT US</a:t>
          </a:r>
          <a:endParaRPr lang="en-US" sz="2500" b="1" kern="1200" noProof="0" dirty="0"/>
        </a:p>
      </dsp:txBody>
      <dsp:txXfrm>
        <a:off x="52549" y="2254922"/>
        <a:ext cx="3221343" cy="720000"/>
      </dsp:txXfrm>
    </dsp:sp>
    <dsp:sp modelId="{149365D4-02F1-45AD-91FD-EDDC4F0E9A67}">
      <dsp:nvSpPr>
        <dsp:cNvPr id="0" name=""/>
        <dsp:cNvSpPr/>
      </dsp:nvSpPr>
      <dsp:spPr>
        <a:xfrm>
          <a:off x="4268401" y="331442"/>
          <a:ext cx="2403864" cy="1596768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FB028-C0D7-44EE-803C-2FE7CB0A5632}">
      <dsp:nvSpPr>
        <dsp:cNvPr id="0" name=""/>
        <dsp:cNvSpPr/>
      </dsp:nvSpPr>
      <dsp:spPr>
        <a:xfrm>
          <a:off x="3837628" y="2270636"/>
          <a:ext cx="32213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noProof="0" dirty="0" smtClean="0"/>
            <a:t>ANALYSIS</a:t>
          </a:r>
          <a:endParaRPr lang="en-US" sz="2500" b="1" kern="1200" noProof="0" dirty="0"/>
        </a:p>
      </dsp:txBody>
      <dsp:txXfrm>
        <a:off x="3837628" y="2270636"/>
        <a:ext cx="3221343" cy="720000"/>
      </dsp:txXfrm>
    </dsp:sp>
    <dsp:sp modelId="{72D006BC-B9B3-458C-9768-07D20D6CD37A}">
      <dsp:nvSpPr>
        <dsp:cNvPr id="0" name=""/>
        <dsp:cNvSpPr/>
      </dsp:nvSpPr>
      <dsp:spPr>
        <a:xfrm>
          <a:off x="8093438" y="376597"/>
          <a:ext cx="2279880" cy="1548351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D41E0-D064-4F64-B2E2-37349575417C}">
      <dsp:nvSpPr>
        <dsp:cNvPr id="0" name=""/>
        <dsp:cNvSpPr/>
      </dsp:nvSpPr>
      <dsp:spPr>
        <a:xfrm>
          <a:off x="7622707" y="2258532"/>
          <a:ext cx="32213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noProof="0" dirty="0" smtClean="0"/>
            <a:t>RECOMMENDATIONS</a:t>
          </a:r>
          <a:endParaRPr lang="en-US" sz="2500" b="1" kern="1200" noProof="0" dirty="0"/>
        </a:p>
      </dsp:txBody>
      <dsp:txXfrm>
        <a:off x="7622707" y="2258532"/>
        <a:ext cx="322134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7C290E50-D3EA-4329-AA5F-AF5A5C575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6112D18-5CEB-46F3-924F-E35464AAA3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5D1AD-E24C-4E82-BC85-28527A42DCE7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B8FC0ED-2712-4B69-9F16-123F02DBF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2CBD00C-2269-4424-828A-8D893B5226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B3793-D85E-4082-925C-FAA1A2B272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863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5EA34-3951-4B6D-8DDD-B157CE00471C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3E965-974B-498D-B360-83DD1F9DEB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36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52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12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58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444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37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126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95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603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03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424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86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64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AB3A824-1A51-4B26-AD58-A6D8E14F6C04}" type="datetimeFigureOut">
              <a:rPr lang="en-US" noProof="0" smtClean="0"/>
              <a:t>10/9/2026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150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noProof="0" smtClean="0"/>
              <a:t>10/9/2026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064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noProof="0" smtClean="0"/>
              <a:t>10/9/2026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764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noProof="0" smtClean="0"/>
              <a:t>10/9/2026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958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86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1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96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5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80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27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95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CBC1C18-307B-4F68-A007-B5B542270E8D}" type="datetimeFigureOut">
              <a:rPr lang="en-US" noProof="0" smtClean="0"/>
              <a:t>10/9/2026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02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xmlns="" id="{B8D726A5-7900-41B4-8D49-49B4A2010E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Coffee Beans">
            <a:extLst>
              <a:ext uri="{FF2B5EF4-FFF2-40B4-BE49-F238E27FC236}">
                <a16:creationId xmlns:a16="http://schemas.microsoft.com/office/drawing/2014/main" xmlns="" id="{291BDB91-E757-4677-A38C-EB354240C8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  <a:prstGeom prst="rect">
            <a:avLst/>
          </a:prstGeom>
        </p:spPr>
        <p:txBody>
          <a:bodyPr lIns="0" rIns="180000">
            <a:normAutofit/>
          </a:bodyPr>
          <a:lstStyle/>
          <a:p>
            <a:r>
              <a:rPr lang="en-US" sz="7200" b="1" dirty="0" smtClean="0">
                <a:solidFill>
                  <a:schemeClr val="tx1"/>
                </a:solidFill>
              </a:rPr>
              <a:t>BRIGHT</a:t>
            </a:r>
            <a:r>
              <a:rPr lang="en-US" sz="7200" b="1" dirty="0" smtClean="0">
                <a:solidFill>
                  <a:schemeClr val="tx1"/>
                </a:solidFill>
              </a:rPr>
              <a:t> </a:t>
            </a:r>
            <a:r>
              <a:rPr lang="en-US" sz="7200" b="1" dirty="0">
                <a:solidFill>
                  <a:schemeClr val="tx1"/>
                </a:solidFill>
              </a:rPr>
              <a:t/>
            </a:r>
            <a:br>
              <a:rPr lang="en-US" sz="7200" b="1" dirty="0">
                <a:solidFill>
                  <a:schemeClr val="tx1"/>
                </a:solidFill>
              </a:rPr>
            </a:br>
            <a:r>
              <a:rPr lang="en-US" sz="7200" b="1" dirty="0" smtClean="0">
                <a:solidFill>
                  <a:schemeClr val="tx1"/>
                </a:solidFill>
              </a:rPr>
              <a:t>COFFEE</a:t>
            </a:r>
            <a:r>
              <a:rPr lang="en-US" sz="7200" b="1" dirty="0" smtClean="0">
                <a:solidFill>
                  <a:schemeClr val="tx1"/>
                </a:solidFill>
              </a:rPr>
              <a:t> </a:t>
            </a:r>
            <a:r>
              <a:rPr lang="en-US" sz="7200" b="1" dirty="0">
                <a:solidFill>
                  <a:schemeClr val="tx1"/>
                </a:solidFill>
              </a:rPr>
              <a:t/>
            </a:r>
            <a:br>
              <a:rPr lang="en-US" sz="7200" b="1" dirty="0">
                <a:solidFill>
                  <a:schemeClr val="tx1"/>
                </a:solidFill>
              </a:rPr>
            </a:br>
            <a:r>
              <a:rPr lang="en-US" sz="7200" b="1" dirty="0" smtClean="0">
                <a:solidFill>
                  <a:schemeClr val="tx1"/>
                </a:solidFill>
              </a:rPr>
              <a:t>SHOP</a:t>
            </a:r>
            <a:br>
              <a:rPr lang="en-US" sz="7200" b="1" dirty="0" smtClean="0">
                <a:solidFill>
                  <a:schemeClr val="tx1"/>
                </a:solidFill>
              </a:rPr>
            </a:br>
            <a:r>
              <a:rPr lang="en-US" sz="7200" b="1" dirty="0" smtClean="0">
                <a:solidFill>
                  <a:schemeClr val="tx1"/>
                </a:solidFill>
              </a:rPr>
              <a:t>ANALYSIS</a:t>
            </a:r>
            <a:endParaRPr lang="en-US" sz="7200" b="1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JUSTICE MAKETE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BRIGHT LEARN 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6E49661-E258-450C-8150-A91A6B30D1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xmlns="" id="{F6F939FF-38E5-43C1-9562-6E33A2F508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C148A00E-633D-4DE1-A032-9D62FA291C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572457"/>
            <a:ext cx="12188952" cy="22855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B91C57-2090-466E-B05A-DA282135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971088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smtClean="0">
                <a:solidFill>
                  <a:srgbClr val="FFFFFF"/>
                </a:solidFill>
              </a:rPr>
              <a:t>INTRODUCTION</a:t>
            </a:r>
            <a:endParaRPr lang="en-US" b="1" dirty="0">
              <a:solidFill>
                <a:srgbClr val="FFFFFF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xmlns="" id="{1F7502AC-B5F2-447A-8886-7B0FA9DBA73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 descr="Icon Bullets">
            <a:extLst>
              <a:ext uri="{FF2B5EF4-FFF2-40B4-BE49-F238E27FC236}">
                <a16:creationId xmlns:a16="http://schemas.microsoft.com/office/drawing/2014/main" xmlns="" id="{ACE5AD74-04D5-49BC-88CF-B67398F8B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0648735"/>
              </p:ext>
            </p:extLst>
          </p:nvPr>
        </p:nvGraphicFramePr>
        <p:xfrm>
          <a:off x="642938" y="642938"/>
          <a:ext cx="1089660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258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100000">
              <a:schemeClr val="bg1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8756837-05BF-4387-B0CB-CFF921BCD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FFEC9DA-F598-4E27-80EE-1EF9DDE397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ABOUT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US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354" y="815248"/>
            <a:ext cx="6841476" cy="3862388"/>
          </a:xfrm>
        </p:spPr>
        <p:txBody>
          <a:bodyPr>
            <a:normAutofit fontScale="92500" lnSpcReduction="20000"/>
          </a:bodyPr>
          <a:lstStyle/>
          <a:p>
            <a:r>
              <a:rPr lang="en-ZA" dirty="0"/>
              <a:t>Bright Coffee Shop is a customer-focused coffee business operating across </a:t>
            </a:r>
            <a:r>
              <a:rPr lang="en-ZA" b="1" dirty="0"/>
              <a:t>three stores</a:t>
            </a:r>
            <a:r>
              <a:rPr lang="en-ZA" dirty="0"/>
              <a:t>, committed to serving quality coffee, delicious products, and creating a </a:t>
            </a:r>
            <a:r>
              <a:rPr lang="en-ZA" dirty="0" smtClean="0"/>
              <a:t>warm </a:t>
            </a:r>
            <a:r>
              <a:rPr lang="en-ZA" dirty="0"/>
              <a:t>experience for </a:t>
            </a:r>
            <a:r>
              <a:rPr lang="en-ZA" dirty="0" smtClean="0"/>
              <a:t>our customers.</a:t>
            </a:r>
            <a:endParaRPr lang="en-ZA" dirty="0"/>
          </a:p>
          <a:p>
            <a:r>
              <a:rPr lang="en-ZA" u="sng" dirty="0"/>
              <a:t>Our goal </a:t>
            </a:r>
            <a:r>
              <a:rPr lang="en-ZA" dirty="0"/>
              <a:t>is to provide excellent customer service, maintain consistent product quality, and </a:t>
            </a:r>
            <a:r>
              <a:rPr lang="en-ZA" dirty="0" smtClean="0"/>
              <a:t>build long </a:t>
            </a:r>
            <a:r>
              <a:rPr lang="en-ZA" dirty="0"/>
              <a:t>lasting relationships with our customers. Through our three stores, we aim to </a:t>
            </a:r>
            <a:r>
              <a:rPr lang="en-ZA" dirty="0" smtClean="0"/>
              <a:t>achieve </a:t>
            </a:r>
            <a:r>
              <a:rPr lang="en-ZA" dirty="0"/>
              <a:t>the needs of our customers while growing </a:t>
            </a:r>
            <a:r>
              <a:rPr lang="en-ZA" dirty="0" smtClean="0"/>
              <a:t>the Bright Coffee brand </a:t>
            </a:r>
            <a:r>
              <a:rPr lang="en-ZA" dirty="0"/>
              <a:t>and improving business performance.</a:t>
            </a:r>
          </a:p>
          <a:p>
            <a:r>
              <a:rPr lang="en-ZA" b="1" u="sng" dirty="0" smtClean="0"/>
              <a:t>Our Vision</a:t>
            </a:r>
            <a:r>
              <a:rPr lang="en-ZA" dirty="0" smtClean="0"/>
              <a:t> </a:t>
            </a:r>
            <a:r>
              <a:rPr lang="en-ZA" dirty="0"/>
              <a:t>To become a leading coffee shop brand known for quality, customer satisfaction, and sustainable business growth.</a:t>
            </a:r>
          </a:p>
          <a:p>
            <a:r>
              <a:rPr lang="en-ZA" b="1" u="sng" dirty="0"/>
              <a:t>Our </a:t>
            </a:r>
            <a:r>
              <a:rPr lang="en-ZA" b="1" u="sng" dirty="0" smtClean="0"/>
              <a:t>Mission</a:t>
            </a:r>
            <a:r>
              <a:rPr lang="en-ZA" dirty="0"/>
              <a:t> </a:t>
            </a:r>
            <a:r>
              <a:rPr lang="en-ZA" dirty="0" smtClean="0"/>
              <a:t>To </a:t>
            </a:r>
            <a:r>
              <a:rPr lang="en-ZA" dirty="0"/>
              <a:t>deliver excellent coffee, outstanding service, and a consistent customer experience while using data-driven decisions to improve sales and </a:t>
            </a:r>
            <a:r>
              <a:rPr lang="en-ZA" dirty="0" smtClean="0"/>
              <a:t>profitability.</a:t>
            </a:r>
          </a:p>
          <a:p>
            <a:endParaRPr lang="en-ZA" dirty="0"/>
          </a:p>
          <a:p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50930" y="5233988"/>
            <a:ext cx="1654139" cy="1067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1594" y="5233988"/>
            <a:ext cx="2853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- LOWER MANHATTAN</a:t>
            </a:r>
          </a:p>
          <a:p>
            <a:r>
              <a:rPr lang="en-ZA" dirty="0" smtClean="0"/>
              <a:t>- HELL’S KITCHEN</a:t>
            </a:r>
          </a:p>
          <a:p>
            <a:r>
              <a:rPr lang="en-ZA" dirty="0" smtClean="0"/>
              <a:t>- ASTORIA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5720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100000">
              <a:schemeClr val="bg1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8756837-05BF-4387-B0CB-CFF921BCD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FFEC9DA-F598-4E27-80EE-1EF9DDE397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354" y="815248"/>
            <a:ext cx="6841476" cy="3862388"/>
          </a:xfrm>
        </p:spPr>
        <p:txBody>
          <a:bodyPr>
            <a:normAutofit/>
          </a:bodyPr>
          <a:lstStyle/>
          <a:p>
            <a:endParaRPr lang="en-ZA" dirty="0"/>
          </a:p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31353" y="3272010"/>
            <a:ext cx="72117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ZA" dirty="0" smtClean="0"/>
          </a:p>
          <a:p>
            <a:r>
              <a:rPr lang="en-ZA" dirty="0" smtClean="0"/>
              <a:t>Bright </a:t>
            </a:r>
            <a:r>
              <a:rPr lang="en-ZA" dirty="0"/>
              <a:t>Coffee Shop generated a total revenue of </a:t>
            </a:r>
            <a:r>
              <a:rPr lang="en-ZA" b="1" dirty="0" smtClean="0"/>
              <a:t>R698,812.33</a:t>
            </a:r>
            <a:r>
              <a:rPr lang="en-ZA" dirty="0" smtClean="0"/>
              <a:t> </a:t>
            </a:r>
            <a:r>
              <a:rPr lang="en-ZA" dirty="0"/>
              <a:t>across its three stores from January to June, with revenue increasing from </a:t>
            </a:r>
            <a:r>
              <a:rPr lang="en-ZA" b="1" dirty="0" smtClean="0"/>
              <a:t>R81,677.74</a:t>
            </a:r>
            <a:r>
              <a:rPr lang="en-ZA" dirty="0" smtClean="0"/>
              <a:t> </a:t>
            </a:r>
            <a:r>
              <a:rPr lang="en-ZA" dirty="0"/>
              <a:t>in January to </a:t>
            </a:r>
            <a:r>
              <a:rPr lang="en-ZA" b="1" dirty="0" smtClean="0"/>
              <a:t>R166,485.88 </a:t>
            </a:r>
            <a:r>
              <a:rPr lang="en-ZA" dirty="0"/>
              <a:t>in </a:t>
            </a:r>
            <a:r>
              <a:rPr lang="en-ZA" dirty="0" smtClean="0"/>
              <a:t>June</a:t>
            </a:r>
          </a:p>
          <a:p>
            <a:endParaRPr lang="en-ZA" dirty="0"/>
          </a:p>
          <a:p>
            <a:r>
              <a:rPr lang="en-ZA" dirty="0" smtClean="0"/>
              <a:t>Best-Performing Store - Hell’s </a:t>
            </a:r>
            <a:r>
              <a:rPr lang="en-ZA" dirty="0"/>
              <a:t>Kitchen generated the highest total revenue of </a:t>
            </a:r>
            <a:r>
              <a:rPr lang="en-ZA" b="1" dirty="0" smtClean="0"/>
              <a:t>R236,511.17</a:t>
            </a:r>
            <a:r>
              <a:rPr lang="en-ZA" dirty="0"/>
              <a:t>, followed by Astoria at </a:t>
            </a:r>
            <a:r>
              <a:rPr lang="en-ZA" b="1" dirty="0" smtClean="0"/>
              <a:t>R232,243.91</a:t>
            </a:r>
            <a:r>
              <a:rPr lang="en-ZA" dirty="0" smtClean="0"/>
              <a:t> </a:t>
            </a:r>
            <a:r>
              <a:rPr lang="en-ZA" dirty="0"/>
              <a:t>and Lower Manhattan at </a:t>
            </a:r>
            <a:r>
              <a:rPr lang="en-ZA" dirty="0" smtClean="0"/>
              <a:t>R230,057.25</a:t>
            </a:r>
          </a:p>
          <a:p>
            <a:endParaRPr lang="en-ZA" dirty="0"/>
          </a:p>
          <a:p>
            <a:r>
              <a:rPr lang="en-ZA" dirty="0" smtClean="0"/>
              <a:t>Strongest </a:t>
            </a:r>
            <a:r>
              <a:rPr lang="en-ZA" dirty="0"/>
              <a:t>Sales </a:t>
            </a:r>
            <a:r>
              <a:rPr lang="en-ZA" dirty="0" smtClean="0"/>
              <a:t>Period - June </a:t>
            </a:r>
            <a:r>
              <a:rPr lang="en-ZA" dirty="0"/>
              <a:t>recorded the highest monthly revenue at </a:t>
            </a:r>
            <a:r>
              <a:rPr lang="en-ZA" b="1" dirty="0" smtClean="0"/>
              <a:t>R166,485.88</a:t>
            </a:r>
            <a:r>
              <a:rPr lang="en-ZA" dirty="0"/>
              <a:t>, followed by May at </a:t>
            </a:r>
            <a:r>
              <a:rPr lang="en-ZA" b="1" dirty="0" smtClean="0"/>
              <a:t>R156,727.76</a:t>
            </a:r>
            <a:endParaRPr lang="en-ZA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5794615"/>
              </p:ext>
            </p:extLst>
          </p:nvPr>
        </p:nvGraphicFramePr>
        <p:xfrm>
          <a:off x="231353" y="121186"/>
          <a:ext cx="7211703" cy="3150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829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100000">
              <a:schemeClr val="bg1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8756837-05BF-4387-B0CB-CFF921BCD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FFEC9DA-F598-4E27-80EE-1EF9DDE397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354" y="815248"/>
            <a:ext cx="6841476" cy="3862388"/>
          </a:xfrm>
        </p:spPr>
        <p:txBody>
          <a:bodyPr>
            <a:normAutofit/>
          </a:bodyPr>
          <a:lstStyle/>
          <a:p>
            <a:endParaRPr lang="en-ZA" dirty="0"/>
          </a:p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31353" y="3272010"/>
            <a:ext cx="72117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Top Revenue (Categories) - Coffee </a:t>
            </a:r>
            <a:r>
              <a:rPr lang="en-ZA" dirty="0"/>
              <a:t>generated the highest revenue of </a:t>
            </a:r>
            <a:r>
              <a:rPr lang="en-ZA" b="1" dirty="0" smtClean="0"/>
              <a:t>R269,952.45</a:t>
            </a:r>
            <a:r>
              <a:rPr lang="en-ZA" dirty="0"/>
              <a:t>, followed by Tea at </a:t>
            </a:r>
            <a:r>
              <a:rPr lang="en-ZA" b="1" dirty="0" smtClean="0"/>
              <a:t>R196,405.95</a:t>
            </a:r>
            <a:r>
              <a:rPr lang="en-ZA" dirty="0"/>
              <a:t> </a:t>
            </a:r>
            <a:r>
              <a:rPr lang="en-ZA" dirty="0" smtClean="0"/>
              <a:t>- These </a:t>
            </a:r>
            <a:r>
              <a:rPr lang="en-ZA" dirty="0"/>
              <a:t>two categories contribute the most to total sales across all three </a:t>
            </a:r>
            <a:r>
              <a:rPr lang="en-ZA" dirty="0" smtClean="0"/>
              <a:t>stores</a:t>
            </a:r>
          </a:p>
          <a:p>
            <a:endParaRPr lang="en-ZA" dirty="0"/>
          </a:p>
          <a:p>
            <a:r>
              <a:rPr lang="en-ZA" dirty="0" smtClean="0"/>
              <a:t>Store Performance - Hell’s </a:t>
            </a:r>
            <a:r>
              <a:rPr lang="en-ZA" dirty="0"/>
              <a:t>Kitchen achieved the highest total revenue of </a:t>
            </a:r>
            <a:r>
              <a:rPr lang="en-ZA" b="1" dirty="0" smtClean="0"/>
              <a:t>R236,511.17</a:t>
            </a:r>
            <a:r>
              <a:rPr lang="en-ZA" dirty="0"/>
              <a:t>, while Lower Manhattan sold the highest number of units at </a:t>
            </a:r>
            <a:r>
              <a:rPr lang="en-ZA" b="1" dirty="0" smtClean="0"/>
              <a:t>R71,742</a:t>
            </a:r>
            <a:endParaRPr lang="en-ZA" b="1" dirty="0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0692107"/>
              </p:ext>
            </p:extLst>
          </p:nvPr>
        </p:nvGraphicFramePr>
        <p:xfrm>
          <a:off x="121186" y="77118"/>
          <a:ext cx="7321870" cy="2883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8580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100000">
              <a:schemeClr val="bg1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8756837-05BF-4387-B0CB-CFF921BCD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FFEC9DA-F598-4E27-80EE-1EF9DDE397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354" y="815248"/>
            <a:ext cx="6841476" cy="3862388"/>
          </a:xfrm>
        </p:spPr>
        <p:txBody>
          <a:bodyPr>
            <a:normAutofit/>
          </a:bodyPr>
          <a:lstStyle/>
          <a:p>
            <a:endParaRPr lang="en-ZA" dirty="0"/>
          </a:p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31353" y="3272010"/>
            <a:ext cx="72117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Coffee </a:t>
            </a:r>
            <a:r>
              <a:rPr lang="en-ZA" dirty="0"/>
              <a:t>is the top-performing product category, </a:t>
            </a:r>
            <a:r>
              <a:rPr lang="en-ZA" dirty="0" smtClean="0"/>
              <a:t>generating approximately </a:t>
            </a:r>
            <a:r>
              <a:rPr lang="en-ZA" b="1" dirty="0" smtClean="0"/>
              <a:t>R269,952.45</a:t>
            </a:r>
            <a:r>
              <a:rPr lang="en-ZA" dirty="0" smtClean="0"/>
              <a:t> </a:t>
            </a:r>
            <a:r>
              <a:rPr lang="en-ZA" dirty="0"/>
              <a:t>across the three </a:t>
            </a:r>
            <a:r>
              <a:rPr lang="en-ZA" dirty="0" smtClean="0"/>
              <a:t>stores - Tea comes in </a:t>
            </a:r>
            <a:r>
              <a:rPr lang="en-ZA" dirty="0"/>
              <a:t>second, contributing 196,405.95. Together, these categories generate approximately </a:t>
            </a:r>
            <a:r>
              <a:rPr lang="en-ZA" b="1" dirty="0"/>
              <a:t>67% </a:t>
            </a:r>
            <a:r>
              <a:rPr lang="en-ZA" dirty="0"/>
              <a:t>of total revenue</a:t>
            </a:r>
            <a:r>
              <a:rPr lang="en-ZA" dirty="0" smtClean="0"/>
              <a:t>.</a:t>
            </a:r>
          </a:p>
          <a:p>
            <a:endParaRPr lang="en-ZA" dirty="0"/>
          </a:p>
          <a:p>
            <a:r>
              <a:rPr lang="en-ZA" dirty="0" smtClean="0"/>
              <a:t>Hell’s </a:t>
            </a:r>
            <a:r>
              <a:rPr lang="en-ZA" dirty="0"/>
              <a:t>Kitchen leads with </a:t>
            </a:r>
            <a:r>
              <a:rPr lang="en-ZA" b="1" dirty="0" smtClean="0"/>
              <a:t>R236,511.17</a:t>
            </a:r>
            <a:r>
              <a:rPr lang="en-ZA" dirty="0" smtClean="0"/>
              <a:t> </a:t>
            </a:r>
            <a:r>
              <a:rPr lang="en-ZA" dirty="0"/>
              <a:t>in total revenue, followed by Astoria at </a:t>
            </a:r>
            <a:r>
              <a:rPr lang="en-ZA" b="1" dirty="0" smtClean="0"/>
              <a:t>R232,243.91</a:t>
            </a:r>
            <a:r>
              <a:rPr lang="en-ZA" dirty="0" smtClean="0"/>
              <a:t> </a:t>
            </a:r>
            <a:r>
              <a:rPr lang="en-ZA" dirty="0"/>
              <a:t>and Lower Manhattan at </a:t>
            </a:r>
            <a:r>
              <a:rPr lang="en-ZA" b="1" dirty="0" smtClean="0"/>
              <a:t>R230,057.25 - </a:t>
            </a:r>
            <a:r>
              <a:rPr lang="en-ZA" dirty="0" smtClean="0"/>
              <a:t>the </a:t>
            </a:r>
            <a:r>
              <a:rPr lang="en-ZA" dirty="0"/>
              <a:t>differences are relatively small, indicating consistent revenue performance across all three stores.</a:t>
            </a: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0508362"/>
              </p:ext>
            </p:extLst>
          </p:nvPr>
        </p:nvGraphicFramePr>
        <p:xfrm>
          <a:off x="231354" y="77118"/>
          <a:ext cx="7211702" cy="2993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2760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100000">
              <a:schemeClr val="bg1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8756837-05BF-4387-B0CB-CFF921BCD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FFEC9DA-F598-4E27-80EE-1EF9DDE397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354" y="815248"/>
            <a:ext cx="6841476" cy="3862388"/>
          </a:xfrm>
        </p:spPr>
        <p:txBody>
          <a:bodyPr>
            <a:normAutofit/>
          </a:bodyPr>
          <a:lstStyle/>
          <a:p>
            <a:endParaRPr lang="en-ZA" dirty="0"/>
          </a:p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31353" y="3272010"/>
            <a:ext cx="72117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Barista </a:t>
            </a:r>
            <a:r>
              <a:rPr lang="en-ZA" dirty="0"/>
              <a:t>Espresso generated the highest revenue at </a:t>
            </a:r>
            <a:r>
              <a:rPr lang="en-ZA" b="1" dirty="0" smtClean="0"/>
              <a:t>R91,406.20</a:t>
            </a:r>
            <a:r>
              <a:rPr lang="en-ZA" dirty="0"/>
              <a:t>, followed by Brewed Chai Tea at </a:t>
            </a:r>
            <a:r>
              <a:rPr lang="en-ZA" b="1" dirty="0" smtClean="0"/>
              <a:t>R77,081.95</a:t>
            </a:r>
            <a:r>
              <a:rPr lang="en-ZA" dirty="0" smtClean="0"/>
              <a:t> </a:t>
            </a:r>
            <a:r>
              <a:rPr lang="en-ZA" dirty="0"/>
              <a:t>and Hot Chocolate at </a:t>
            </a:r>
            <a:r>
              <a:rPr lang="en-ZA" b="1" dirty="0" smtClean="0"/>
              <a:t>R72,416.00</a:t>
            </a:r>
            <a:r>
              <a:rPr lang="en-ZA" dirty="0"/>
              <a:t>. These products are important revenue drivers </a:t>
            </a:r>
            <a:r>
              <a:rPr lang="en-ZA" dirty="0" smtClean="0"/>
              <a:t>and should always be available in stock.</a:t>
            </a:r>
          </a:p>
          <a:p>
            <a:endParaRPr lang="en-ZA" dirty="0" smtClean="0"/>
          </a:p>
          <a:p>
            <a:r>
              <a:rPr lang="en-ZA" dirty="0" smtClean="0"/>
              <a:t>Coffee </a:t>
            </a:r>
            <a:r>
              <a:rPr lang="en-ZA" dirty="0"/>
              <a:t>products generate the highest category revenue at </a:t>
            </a:r>
            <a:r>
              <a:rPr lang="en-ZA" b="1" dirty="0" smtClean="0"/>
              <a:t>R269,952.45</a:t>
            </a:r>
            <a:r>
              <a:rPr lang="en-ZA" dirty="0"/>
              <a:t>, while Tea contributes </a:t>
            </a:r>
            <a:r>
              <a:rPr lang="en-ZA" b="1" dirty="0" smtClean="0"/>
              <a:t>R196,405.95</a:t>
            </a:r>
            <a:r>
              <a:rPr lang="en-ZA" dirty="0"/>
              <a:t> </a:t>
            </a:r>
            <a:r>
              <a:rPr lang="en-ZA" dirty="0" smtClean="0"/>
              <a:t>- indicates </a:t>
            </a:r>
            <a:r>
              <a:rPr lang="en-ZA" dirty="0"/>
              <a:t>strong demand for coffee and tea products across </a:t>
            </a:r>
            <a:r>
              <a:rPr lang="en-ZA" dirty="0" smtClean="0"/>
              <a:t>Bright Coffee Shop</a:t>
            </a:r>
            <a:endParaRPr lang="en-ZA" dirty="0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5277265"/>
              </p:ext>
            </p:extLst>
          </p:nvPr>
        </p:nvGraphicFramePr>
        <p:xfrm>
          <a:off x="110169" y="72585"/>
          <a:ext cx="743363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6494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100000">
              <a:schemeClr val="bg1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8756837-05BF-4387-B0CB-CFF921BCD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FFEC9DA-F598-4E27-80EE-1EF9DDE397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354" y="815248"/>
            <a:ext cx="6841476" cy="3862388"/>
          </a:xfrm>
        </p:spPr>
        <p:txBody>
          <a:bodyPr>
            <a:normAutofit/>
          </a:bodyPr>
          <a:lstStyle/>
          <a:p>
            <a:endParaRPr lang="en-ZA" dirty="0"/>
          </a:p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31353" y="3272010"/>
            <a:ext cx="7211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Latte </a:t>
            </a:r>
            <a:r>
              <a:rPr lang="en-ZA" dirty="0" err="1"/>
              <a:t>Rg</a:t>
            </a:r>
            <a:r>
              <a:rPr lang="en-ZA" dirty="0"/>
              <a:t> generated </a:t>
            </a:r>
            <a:r>
              <a:rPr lang="en-ZA" b="1" dirty="0" smtClean="0"/>
              <a:t>R19,112.25</a:t>
            </a:r>
            <a:r>
              <a:rPr lang="en-ZA" dirty="0"/>
              <a:t>, followed by Cappuccino </a:t>
            </a:r>
            <a:r>
              <a:rPr lang="en-ZA" dirty="0" err="1"/>
              <a:t>Lg</a:t>
            </a:r>
            <a:r>
              <a:rPr lang="en-ZA" dirty="0"/>
              <a:t> at </a:t>
            </a:r>
            <a:r>
              <a:rPr lang="en-ZA" b="1" dirty="0" smtClean="0"/>
              <a:t>R17,641.75</a:t>
            </a:r>
            <a:r>
              <a:rPr lang="en-ZA" dirty="0" smtClean="0"/>
              <a:t> </a:t>
            </a:r>
            <a:r>
              <a:rPr lang="en-ZA" dirty="0"/>
              <a:t>and Latte at </a:t>
            </a:r>
            <a:r>
              <a:rPr lang="en-ZA" b="1" dirty="0" smtClean="0"/>
              <a:t>R17,257.50 – </a:t>
            </a:r>
            <a:r>
              <a:rPr lang="en-ZA" dirty="0" smtClean="0"/>
              <a:t>this gives opportunities </a:t>
            </a:r>
            <a:r>
              <a:rPr lang="en-ZA" dirty="0"/>
              <a:t>to grow revenue through effective product placement and targeted </a:t>
            </a:r>
            <a:r>
              <a:rPr lang="en-ZA" dirty="0" smtClean="0"/>
              <a:t>promotions</a:t>
            </a:r>
          </a:p>
          <a:p>
            <a:pPr marL="342900" indent="-342900">
              <a:buAutoNum type="arabicPeriod"/>
            </a:pPr>
            <a:endParaRPr lang="en-ZA" dirty="0"/>
          </a:p>
          <a:p>
            <a:r>
              <a:rPr lang="en-ZA" dirty="0" smtClean="0"/>
              <a:t>Coffee </a:t>
            </a:r>
            <a:r>
              <a:rPr lang="en-ZA" dirty="0"/>
              <a:t>and Tea </a:t>
            </a:r>
            <a:r>
              <a:rPr lang="en-ZA" dirty="0" smtClean="0"/>
              <a:t>remains </a:t>
            </a:r>
            <a:r>
              <a:rPr lang="en-ZA" dirty="0"/>
              <a:t>the strongest categories, generating </a:t>
            </a:r>
            <a:r>
              <a:rPr lang="en-ZA" b="1" dirty="0" smtClean="0"/>
              <a:t>R269,952.45</a:t>
            </a:r>
            <a:r>
              <a:rPr lang="en-ZA" dirty="0" smtClean="0"/>
              <a:t> </a:t>
            </a:r>
            <a:r>
              <a:rPr lang="en-ZA" dirty="0"/>
              <a:t>and </a:t>
            </a:r>
            <a:r>
              <a:rPr lang="en-ZA" b="1" dirty="0" smtClean="0"/>
              <a:t>R196,405.95</a:t>
            </a:r>
            <a:r>
              <a:rPr lang="en-ZA" dirty="0" smtClean="0"/>
              <a:t> respectively</a:t>
            </a:r>
            <a:endParaRPr lang="en-ZA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0069863"/>
              </p:ext>
            </p:extLst>
          </p:nvPr>
        </p:nvGraphicFramePr>
        <p:xfrm>
          <a:off x="99151" y="173516"/>
          <a:ext cx="744464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985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100000">
              <a:schemeClr val="bg1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8756837-05BF-4387-B0CB-CFF921BCD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FFEC9DA-F598-4E27-80EE-1EF9DDE397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354" y="815248"/>
            <a:ext cx="6841476" cy="3862388"/>
          </a:xfrm>
        </p:spPr>
        <p:txBody>
          <a:bodyPr>
            <a:normAutofit/>
          </a:bodyPr>
          <a:lstStyle/>
          <a:p>
            <a:endParaRPr lang="en-ZA" dirty="0"/>
          </a:p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31353" y="3272010"/>
            <a:ext cx="72117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Morning is the Period - Morning </a:t>
            </a:r>
            <a:r>
              <a:rPr lang="en-ZA" dirty="0"/>
              <a:t>sales generated the highest revenue of </a:t>
            </a:r>
            <a:r>
              <a:rPr lang="en-ZA" b="1" dirty="0"/>
              <a:t>R</a:t>
            </a:r>
            <a:r>
              <a:rPr lang="en-ZA" b="1" dirty="0" smtClean="0"/>
              <a:t>388,288.67</a:t>
            </a:r>
            <a:r>
              <a:rPr lang="en-ZA" dirty="0"/>
              <a:t>, </a:t>
            </a:r>
            <a:r>
              <a:rPr lang="en-ZA" dirty="0" smtClean="0"/>
              <a:t>representing </a:t>
            </a:r>
            <a:r>
              <a:rPr lang="en-ZA" dirty="0"/>
              <a:t>approximately 55.6% of total </a:t>
            </a:r>
            <a:r>
              <a:rPr lang="en-ZA" dirty="0" smtClean="0"/>
              <a:t>revenue - shows </a:t>
            </a:r>
            <a:r>
              <a:rPr lang="en-ZA" dirty="0"/>
              <a:t>that mornings are Bright Coffee Shop’s strongest trading </a:t>
            </a:r>
            <a:r>
              <a:rPr lang="en-ZA" dirty="0" smtClean="0"/>
              <a:t>period</a:t>
            </a:r>
          </a:p>
          <a:p>
            <a:endParaRPr lang="en-ZA" dirty="0"/>
          </a:p>
          <a:p>
            <a:r>
              <a:rPr lang="en-ZA" dirty="0" smtClean="0"/>
              <a:t>Afternoon </a:t>
            </a:r>
            <a:r>
              <a:rPr lang="en-ZA" dirty="0"/>
              <a:t>revenue reached </a:t>
            </a:r>
            <a:r>
              <a:rPr lang="en-ZA" b="1" dirty="0"/>
              <a:t>R</a:t>
            </a:r>
            <a:r>
              <a:rPr lang="en-ZA" b="1" dirty="0" smtClean="0"/>
              <a:t>204,720.83</a:t>
            </a:r>
            <a:r>
              <a:rPr lang="en-ZA" dirty="0"/>
              <a:t>, compared with </a:t>
            </a:r>
            <a:r>
              <a:rPr lang="en-ZA" b="1" dirty="0" smtClean="0"/>
              <a:t>R105,802.83</a:t>
            </a:r>
            <a:r>
              <a:rPr lang="en-ZA" dirty="0" smtClean="0"/>
              <a:t> </a:t>
            </a:r>
            <a:r>
              <a:rPr lang="en-ZA" dirty="0"/>
              <a:t>in the evening. Coffee was the leading category across all three time periods, generating the highest revenue in the morning at </a:t>
            </a:r>
            <a:r>
              <a:rPr lang="en-ZA" b="1" dirty="0" smtClean="0"/>
              <a:t>R144,471.80</a:t>
            </a:r>
            <a:endParaRPr lang="en-ZA" b="1" dirty="0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981951"/>
              </p:ext>
            </p:extLst>
          </p:nvPr>
        </p:nvGraphicFramePr>
        <p:xfrm>
          <a:off x="110169" y="121186"/>
          <a:ext cx="7332887" cy="2905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5486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0"/>
              </a:schemeClr>
            </a:gs>
            <a:gs pos="100000">
              <a:schemeClr val="bg1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48756837-05BF-4387-B0CB-CFF921BCD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FFEC9DA-F598-4E27-80EE-1EF9DDE397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43801" y="0"/>
            <a:ext cx="46481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9EAA8D-9FA6-44DF-B373-F9F0E09D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269" y="643467"/>
            <a:ext cx="3415612" cy="55710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analysis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354" y="815248"/>
            <a:ext cx="6841476" cy="3862388"/>
          </a:xfrm>
        </p:spPr>
        <p:txBody>
          <a:bodyPr>
            <a:normAutofit/>
          </a:bodyPr>
          <a:lstStyle/>
          <a:p>
            <a:endParaRPr lang="en-ZA" dirty="0"/>
          </a:p>
          <a:p>
            <a:endParaRPr lang="en-ZA" dirty="0"/>
          </a:p>
        </p:txBody>
      </p:sp>
      <p:sp>
        <p:nvSpPr>
          <p:cNvPr id="12" name="TextBox 11"/>
          <p:cNvSpPr txBox="1"/>
          <p:nvPr/>
        </p:nvSpPr>
        <p:spPr>
          <a:xfrm>
            <a:off x="917438" y="458801"/>
            <a:ext cx="6037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b="1" dirty="0" smtClean="0"/>
              <a:t>TOP 10 PRODUCTS SOLD</a:t>
            </a:r>
            <a:endParaRPr lang="en-ZA" sz="2000" b="1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652978"/>
              </p:ext>
            </p:extLst>
          </p:nvPr>
        </p:nvGraphicFramePr>
        <p:xfrm>
          <a:off x="352539" y="1002534"/>
          <a:ext cx="7061814" cy="521199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03384"/>
                <a:gridCol w="3804492"/>
                <a:gridCol w="2353938"/>
              </a:tblGrid>
              <a:tr h="473818">
                <a:tc>
                  <a:txBody>
                    <a:bodyPr/>
                    <a:lstStyle/>
                    <a:p>
                      <a:r>
                        <a:rPr lang="en-ZA" sz="1800" dirty="0"/>
                        <a:t>Rank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/>
                        <a:t>Product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/>
                        <a:t>Revenue</a:t>
                      </a:r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/>
                        <a:t>1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/>
                        <a:t>Barista Espresso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R91,406.20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 dirty="0"/>
                        <a:t>2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/>
                        <a:t>Brewed Chai Tea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R77,081.95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/>
                        <a:t>3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/>
                        <a:t>Hot Chocolate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R72,416.00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/>
                        <a:t>4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/>
                        <a:t>Gourmet Brewed Coffee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R70,034.60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/>
                        <a:t>5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/>
                        <a:t>Brewed Black Tea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R47,932.00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/>
                        <a:t>6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/>
                        <a:t>Brewed Herbal Tea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R47,539.50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/>
                        <a:t>7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/>
                        <a:t>Premium Brewed Coffee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R38,781.15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/>
                        <a:t>8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/>
                        <a:t>Organic Brewed Coffee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R37,746.50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/>
                        <a:t>9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/>
                        <a:t>Scone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R36,866.12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  <a:tr h="473818">
                <a:tc>
                  <a:txBody>
                    <a:bodyPr/>
                    <a:lstStyle/>
                    <a:p>
                      <a:r>
                        <a:rPr lang="en-ZA" sz="1800" dirty="0"/>
                        <a:t>10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/>
                        <a:t>Drip Coffee</a:t>
                      </a:r>
                    </a:p>
                  </a:txBody>
                  <a:tcPr marL="91426" marR="91426" marT="45713" marB="45713" anchor="ctr"/>
                </a:tc>
                <a:tc>
                  <a:txBody>
                    <a:bodyPr/>
                    <a:lstStyle/>
                    <a:p>
                      <a:r>
                        <a:rPr lang="en-ZA" sz="1800" dirty="0" smtClean="0"/>
                        <a:t>R31,984.00</a:t>
                      </a:r>
                      <a:endParaRPr lang="en-ZA" sz="1800" b="1" dirty="0"/>
                    </a:p>
                  </a:txBody>
                  <a:tcPr marL="91426" marR="91426" marT="45713" marB="4571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80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41ADA27-F8D7-4034-AACF-0E2C0E2546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olling Dough">
            <a:extLst>
              <a:ext uri="{FF2B5EF4-FFF2-40B4-BE49-F238E27FC236}">
                <a16:creationId xmlns:a16="http://schemas.microsoft.com/office/drawing/2014/main" xmlns="" id="{CD3172FA-7FBF-4586-8BAE-F8681B4CC2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40664" y="1277071"/>
            <a:ext cx="7480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3200" b="1" dirty="0" smtClean="0"/>
              <a:t>RECOMMENDATIONS</a:t>
            </a:r>
            <a:endParaRPr lang="en-ZA" sz="3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08473" y="947451"/>
            <a:ext cx="116558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ZA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smtClean="0"/>
              <a:t>Introduce </a:t>
            </a:r>
            <a:r>
              <a:rPr lang="en-ZA" dirty="0"/>
              <a:t>targeted afternoon promotions, such as coffee-and-snack deals, and evening specials to encourage additional </a:t>
            </a:r>
            <a:r>
              <a:rPr lang="en-ZA" dirty="0" smtClean="0"/>
              <a:t>visits.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Ensure sufficient staff, coffee supplies, and bakery stock during morning peak </a:t>
            </a:r>
            <a:r>
              <a:rPr lang="en-ZA" dirty="0" smtClean="0"/>
              <a:t>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Use </a:t>
            </a:r>
            <a:r>
              <a:rPr lang="en-ZA" dirty="0"/>
              <a:t>Hell’s Kitchen as a benchmark to identify successful sales practices and </a:t>
            </a:r>
            <a:r>
              <a:rPr lang="en-ZA" dirty="0" smtClean="0"/>
              <a:t>apply </a:t>
            </a:r>
            <a:r>
              <a:rPr lang="en-ZA" dirty="0"/>
              <a:t>them </a:t>
            </a:r>
            <a:r>
              <a:rPr lang="en-ZA" dirty="0" smtClean="0"/>
              <a:t>at </a:t>
            </a:r>
            <a:r>
              <a:rPr lang="en-ZA" dirty="0"/>
              <a:t>Astoria and Lower </a:t>
            </a:r>
            <a:r>
              <a:rPr lang="en-ZA" dirty="0" smtClean="0"/>
              <a:t>Manhattan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 smtClean="0"/>
              <a:t>Do a deep dive into the </a:t>
            </a:r>
            <a:r>
              <a:rPr lang="en-ZA" dirty="0"/>
              <a:t>strong sales in May and June, including customer demand, promotions, and product </a:t>
            </a:r>
            <a:r>
              <a:rPr lang="en-ZA" dirty="0" smtClean="0"/>
              <a:t>performance.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/>
              <a:t>R</a:t>
            </a:r>
            <a:r>
              <a:rPr lang="en-ZA" dirty="0" smtClean="0"/>
              <a:t>eview </a:t>
            </a:r>
            <a:r>
              <a:rPr lang="en-ZA" dirty="0"/>
              <a:t>customer demand, product pricing, and targeted promotions to improve sales </a:t>
            </a:r>
            <a:r>
              <a:rPr lang="en-ZA" dirty="0" smtClean="0"/>
              <a:t>performance in the lowest performing categories such as </a:t>
            </a:r>
            <a:r>
              <a:rPr lang="en-ZA" dirty="0"/>
              <a:t>Packaged </a:t>
            </a:r>
            <a:r>
              <a:rPr lang="en-ZA" dirty="0"/>
              <a:t>Chocolate </a:t>
            </a:r>
            <a:r>
              <a:rPr lang="en-ZA" dirty="0" smtClean="0"/>
              <a:t>&amp; Flavours.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/>
              <a:t>Use </a:t>
            </a:r>
            <a:r>
              <a:rPr lang="en-ZA" dirty="0" smtClean="0"/>
              <a:t>complementary or More-4-Less offers, such </a:t>
            </a:r>
            <a:r>
              <a:rPr lang="en-ZA" dirty="0"/>
              <a:t>as coffee with pastries, to increase average customer </a:t>
            </a:r>
            <a:r>
              <a:rPr lang="en-ZA" dirty="0" smtClean="0"/>
              <a:t>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Review sales, pricing, and customer demand for lower-revenue </a:t>
            </a:r>
            <a:r>
              <a:rPr lang="en-ZA" dirty="0" smtClean="0"/>
              <a:t>articles </a:t>
            </a:r>
            <a:r>
              <a:rPr lang="en-ZA" dirty="0"/>
              <a:t>as Organic Chocolate, Green Beans, and Green </a:t>
            </a:r>
            <a:r>
              <a:rPr lang="en-ZA" dirty="0" smtClean="0"/>
              <a:t>Tea – have promotions </a:t>
            </a:r>
            <a:r>
              <a:rPr lang="en-ZA" dirty="0"/>
              <a:t>before deciding whether to adjust stock </a:t>
            </a:r>
            <a:r>
              <a:rPr lang="en-ZA" dirty="0" smtClean="0"/>
              <a:t>holding </a:t>
            </a:r>
            <a:r>
              <a:rPr lang="en-ZA" dirty="0"/>
              <a:t>or product selection.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ZA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ZA" dirty="0" smtClean="0"/>
          </a:p>
        </p:txBody>
      </p:sp>
    </p:spTree>
    <p:extLst>
      <p:ext uri="{BB962C8B-B14F-4D97-AF65-F5344CB8AC3E}">
        <p14:creationId xmlns:p14="http://schemas.microsoft.com/office/powerpoint/2010/main" val="81673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1063F05-99EF-4DA3-B595-4E26670F29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904461-E85A-43E7-AA0B-B7DF596C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  <a:prstGeom prst="rect">
            <a:avLst/>
          </a:prstGeom>
        </p:spPr>
        <p:txBody>
          <a:bodyPr lIns="0" tIns="108000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E0A835C2-2B9B-4174-AA2C-60A4F13119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D39F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BDDBE1-00CD-4A90-9BA9-5E79F6C6F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258" y="2286000"/>
            <a:ext cx="3791711" cy="393192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Email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 smtClean="0"/>
              <a:t>mmjthegod@gmail.com</a:t>
            </a:r>
            <a:endParaRPr lang="en-US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Restaurant Open Sign">
            <a:extLst>
              <a:ext uri="{FF2B5EF4-FFF2-40B4-BE49-F238E27FC236}">
                <a16:creationId xmlns:a16="http://schemas.microsoft.com/office/drawing/2014/main" xmlns="" id="{4BB88093-7048-42AA-9AFC-B007B4E797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8548" y="10"/>
            <a:ext cx="6723452" cy="6857990"/>
          </a:xfrm>
          <a:prstGeom prst="rect">
            <a:avLst/>
          </a:prstGeom>
        </p:spPr>
      </p:pic>
      <p:pic>
        <p:nvPicPr>
          <p:cNvPr id="7" name="Graphic 6" descr="Envelope">
            <a:extLst>
              <a:ext uri="{FF2B5EF4-FFF2-40B4-BE49-F238E27FC236}">
                <a16:creationId xmlns:a16="http://schemas.microsoft.com/office/drawing/2014/main" xmlns="" id="{1BCFD98B-5534-433A-A8E6-4DE2A04C391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24129" y="22860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4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0C1243-C9FF-4461-B21D-DC7A9A834A3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F6B0913-D4BB-427F-9A3C-58E430AB6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F886C1-21C8-492D-B13F-01E91F83DF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Retail design</Template>
  <TotalTime>0</TotalTime>
  <Words>762</Words>
  <Application>Microsoft Office PowerPoint</Application>
  <PresentationFormat>Widescreen</PresentationFormat>
  <Paragraphs>110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Tw Cen MT</vt:lpstr>
      <vt:lpstr>Tw Cen MT Condensed</vt:lpstr>
      <vt:lpstr>Wingdings 3</vt:lpstr>
      <vt:lpstr>Integral</vt:lpstr>
      <vt:lpstr>BRIGHT  COFFEE  SHOP ANALYSIS</vt:lpstr>
      <vt:lpstr>INTRODUCTION</vt:lpstr>
      <vt:lpstr>ABOUT US</vt:lpstr>
      <vt:lpstr>analysis</vt:lpstr>
      <vt:lpstr>analysis</vt:lpstr>
      <vt:lpstr>analysis</vt:lpstr>
      <vt:lpstr>analysis</vt:lpstr>
      <vt:lpstr>analysis</vt:lpstr>
      <vt:lpstr>analysis</vt:lpstr>
      <vt:lpstr>analysis</vt:lpstr>
      <vt:lpstr>PowerPoint Presentation</vt:lpstr>
      <vt:lpstr>Thank You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2026-10-09T14:51:31Z</dcterms:created>
  <dcterms:modified xsi:type="dcterms:W3CDTF">2026-10-09T16:55:32Z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